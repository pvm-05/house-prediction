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8220"/>
                </a:solidFill>
                <a:latin typeface="Arial"/>
              </a:defRPr>
            </a:pPr>
            <a:r>
              <a:t>TRƯỜNG ĐẠI HỌC PHENIKAA — TRƯỜNG CÔNG NGHỆ THÔNG TIN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BÁO CÁO BẢO VỆ ĐỒ ÁN HỌC PHẦN: TÍCH HỢP VÀ PHÂN TÍCH DỮ LIỆU LỚN</a:t>
            </a:r>
          </a:p>
          <a:p>
            <a:pPr>
              <a:spcAft>
                <a:spcPts val="28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NGHIÊN CỨU XÂY DỰNG HỆ THỐNG LAKEHOUSE ĐA TẦNG (MEDALLION ARCHITECTURE) TÍCH HỢP DỮ LIỆU LỚN VÀ ĐỊNH GIÁ BẤT ĐỘNG SẢN VIỆT NAM BẰNG MÔ HÌNH HỌC MÁY LIGHTGBM</a:t>
            </a:r>
          </a:p>
          <a:p>
            <a:pPr>
              <a:spcAft>
                <a:spcPts val="600"/>
              </a:spcAft>
              <a:defRPr sz="1400" b="1">
                <a:solidFill>
                  <a:srgbClr val="F58220"/>
                </a:solidFill>
                <a:latin typeface="Arial"/>
              </a:defRPr>
            </a:pPr>
            <a:r>
              <a:t>Sinh viên thực hiện: PHẠM VĂN MINH       |       Mã sinh viên (MSV): 23010350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Email: 23010350@st.phenikaa-uni.edu.vn   |   Khóa: K17 — Công nghệ Thông tin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Công nghệ: Apache PySpark 3.5 • Parquet Snappy • PostgreSQL/SQLite • LightGBM •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1. Tổng Quan Bài Toán &amp; Thách Thức Dữ Liệu Lớn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2 /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  <a:latin typeface="Arial"/>
              </a:defRPr>
            </a:pPr>
            <a:r>
              <a:t>KHO NGUỒN HUGGING FACE</a:t>
            </a:r>
          </a:p>
          <a:p>
            <a:pPr>
              <a:defRPr sz="2200" b="1">
                <a:solidFill>
                  <a:srgbClr val="1E40AF"/>
                </a:solidFill>
                <a:latin typeface="Arial"/>
              </a:defRPr>
            </a:pPr>
            <a:r>
              <a:t>3,500,744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bản ghi trên 10 phân mảnh (shards)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  <a:latin typeface="Arial"/>
              </a:defRPr>
            </a:pPr>
            <a:r>
              <a:t>PHÂN MẢNH THỰC NGHIỆM</a:t>
            </a:r>
          </a:p>
          <a:p>
            <a:pPr>
              <a:defRPr sz="2200" b="1">
                <a:solidFill>
                  <a:srgbClr val="1E40AF"/>
                </a:solidFill>
                <a:latin typeface="Arial"/>
              </a:defRPr>
            </a:pPr>
            <a:r>
              <a:t>350,075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bản ghi thô (Shard 0000 Parquet)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  <a:latin typeface="Arial"/>
              </a:defRPr>
            </a:pPr>
            <a:r>
              <a:t>TẦNG VÀNG SẠCH SAU ETL</a:t>
            </a:r>
          </a:p>
          <a:p>
            <a:pPr>
              <a:defRPr sz="2200" b="1">
                <a:solidFill>
                  <a:srgbClr val="1E40AF"/>
                </a:solidFill>
                <a:latin typeface="Arial"/>
              </a:defRPr>
            </a:pPr>
            <a:r>
              <a:t>300,295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bản ghi phục vụ phân tích &amp; ML (85.8%)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50" b="1">
                <a:solidFill>
                  <a:srgbClr val="0F2942"/>
                </a:solidFill>
                <a:latin typeface="Arial"/>
              </a:defRPr>
            </a:pPr>
            <a:r>
              <a:t>4 THÁCH THỨC ĐẶC THÙ CỦA DỮ LIỆU BẤT ĐỘNG SẢN VIỆT NAM &amp; GIẢI PHÁP 6V: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2942"/>
                </a:solidFill>
                <a:latin typeface="Arial"/>
              </a:rPr>
              <a:t>• Volume (Quy mô cực lớn): </a:t>
            </a:r>
            <a:r>
              <a:rPr sz="1200" b="0">
                <a:solidFill>
                  <a:srgbClr val="0F172A"/>
                </a:solidFill>
                <a:latin typeface="Arial"/>
              </a:rPr>
              <a:t>3.5 triệu tin đăng vượt quá khả năng xử lý của pandas in-memory; giải quyết bằng kiến trúc xử lý phân tán Apache PySpark.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2942"/>
                </a:solidFill>
                <a:latin typeface="Arial"/>
              </a:rPr>
              <a:t>• Veracity (Độ tin cậy &amp; Nhiễu loạn): </a:t>
            </a:r>
            <a:r>
              <a:rPr sz="1200" b="0">
                <a:solidFill>
                  <a:srgbClr val="0F172A"/>
                </a:solidFill>
                <a:latin typeface="Arial"/>
              </a:rPr>
              <a:t>Môi giới spam hàng loạt tin trùng lặp; tin rác báo giá ảo 881,020 tỷ đồng, diện tích 24 triệu m²; thiếu chuẩn hóa đơn vị (tỷ, triệu, đ/m², thương lượng).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2942"/>
                </a:solidFill>
                <a:latin typeface="Arial"/>
              </a:rPr>
              <a:t>• Variety (Dữ liệu phi cấu trúc phức tạp): </a:t>
            </a:r>
            <a:r>
              <a:rPr sz="1200" b="0">
                <a:solidFill>
                  <a:srgbClr val="0F172A"/>
                </a:solidFill>
                <a:latin typeface="Arial"/>
              </a:rPr>
              <a:t>Yếu tố định giá quan trọng (Sổ đỏ, nhà mặt tiền, ngõ ô tô) ẩn giấu trong văn bản miêu tả; giải quyết bằng bộ trích xuất biểu thức chính quy (Regex NLP).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2942"/>
                </a:solidFill>
                <a:latin typeface="Arial"/>
              </a:rPr>
              <a:t>• Velocity &amp; Lineage (Truy vết nguồn gốc): </a:t>
            </a:r>
            <a:r>
              <a:rPr sz="1200" b="0">
                <a:solidFill>
                  <a:srgbClr val="0F172A"/>
                </a:solidFill>
                <a:latin typeface="Arial"/>
              </a:rPr>
              <a:t>Tin đăng phát sinh liên tục theo thời gian; hệ thống gắn audit metadata (ingested_at, batch_id, source_shard) bảo đảm khả năng tái lập 100%.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2942"/>
                </a:solidFill>
                <a:latin typeface="Arial"/>
              </a:rPr>
              <a:t>• Value &amp; Valence (Giá trị ứng dụng): </a:t>
            </a:r>
            <a:r>
              <a:rPr sz="1200" b="0">
                <a:solidFill>
                  <a:srgbClr val="0F172A"/>
                </a:solidFill>
                <a:latin typeface="Arial"/>
              </a:rPr>
              <a:t>Xây dựng mô hình AI định giá tự động (LightGBM) và bảng điều khiển Streamlit tương tác 4 phân hệ hỗ trợ ra quyết định đầu tư.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2. Kiến Trúc Hồ Dữ Liệu Medallion Lakehouse 6 Tầng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3 / 16</a:t>
            </a:r>
          </a:p>
        </p:txBody>
      </p:sp>
      <p:pic>
        <p:nvPicPr>
          <p:cNvPr id="4" name="Picture 3" descr="00_architectu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2942"/>
                </a:solidFill>
                <a:latin typeface="Arial"/>
              </a:defRPr>
            </a:pPr>
            <a:r>
              <a:t>ĐẶC TẢ CÔNG NGHỆ 6 TẦNG: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1. Ingestion: </a:t>
            </a:r>
            <a:r>
              <a:rPr sz="1100" b="0">
                <a:solidFill>
                  <a:srgbClr val="0F172A"/>
                </a:solidFill>
                <a:latin typeface="Arial"/>
              </a:rPr>
              <a:t>Nạp bất đồng bộ từ Hugging Face Hub (Polars/Arrow), gán mã lô batch_id &amp; timestamp.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2. Bronze Zone: </a:t>
            </a:r>
            <a:r>
              <a:rPr sz="1100" b="0">
                <a:solidFill>
                  <a:srgbClr val="0F172A"/>
                </a:solidFill>
                <a:latin typeface="Arial"/>
              </a:rPr>
              <a:t>Lưu trữ nguyên trạng bất biến (Immutable Data) định dạng Parquet Snappy (350,075 dòng, 153.9 MB).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3. Silver Zone: </a:t>
            </a:r>
            <a:r>
              <a:rPr sz="1100" b="0">
                <a:solidFill>
                  <a:srgbClr val="0F172A"/>
                </a:solidFill>
                <a:latin typeface="Arial"/>
              </a:rPr>
              <a:t>Làm sạch PySpark, khử trùng lặp đa thuộc tính, chuẩn hóa kiểu dữ liệu số (307,457 dòng, 130.0 MB).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4. Gold Zone: </a:t>
            </a:r>
            <a:r>
              <a:rPr sz="1100" b="0">
                <a:solidFill>
                  <a:srgbClr val="0F172A"/>
                </a:solidFill>
                <a:latin typeface="Arial"/>
              </a:rPr>
              <a:t>Lọc ngoại lệ IQR, trích xuất đặc trưng NLP, log-transform (300,295 dòng, 128.2 MB).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5. Serving DB: </a:t>
            </a:r>
            <a:r>
              <a:rPr sz="1100" b="0">
                <a:solidFill>
                  <a:srgbClr val="0F172A"/>
                </a:solidFill>
                <a:latin typeface="Arial"/>
              </a:rPr>
              <a:t>PostgreSQL / SQLite Indexing, đánh 4 chỉ mục B-Tree, nạp chunk 10k, dung lượng chỉ 17.4 MB.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6. Serving ML/UI: </a:t>
            </a:r>
            <a:r>
              <a:rPr sz="1100" b="0">
                <a:solidFill>
                  <a:srgbClr val="0F172A"/>
                </a:solidFill>
                <a:latin typeface="Arial"/>
              </a:rPr>
              <a:t>Mô hình LightGBM định giá trực tuyến &amp; Dashboard Streamlit 4 Tab tương tác.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3. Thuật Toán Khử Trùng Lặp &amp; Phễu Lưu Lượng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4 / 16</a:t>
            </a:r>
          </a:p>
        </p:txBody>
      </p:sp>
      <p:pic>
        <p:nvPicPr>
          <p:cNvPr id="4" name="Picture 3" descr="01_pipeline_funnel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2942"/>
                </a:solidFill>
                <a:latin typeface="Arial"/>
              </a:defRPr>
            </a:pPr>
            <a:r>
              <a:t>CƠ CHẾ KHỬ TRÙNG &amp; PHỄU LƯU LƯỢNG: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Khóa băm tổ hợp đa thuộc tính: </a:t>
            </a:r>
            <a:r>
              <a:rPr sz="1100" b="0">
                <a:solidFill>
                  <a:srgbClr val="0F172A"/>
                </a:solidFill>
                <a:latin typeface="Arial"/>
              </a:rPr>
              <a:t>K_dedup = Hash(lower(name) || province || district || ward || price_str || area)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Khử chính xác 29,686 trùng lặp: </a:t>
            </a:r>
            <a:r>
              <a:rPr sz="1100" b="0">
                <a:solidFill>
                  <a:srgbClr val="0F172A"/>
                </a:solidFill>
                <a:latin typeface="Arial"/>
              </a:rPr>
              <a:t>Chiếm 8.48% dữ liệu thô, giải quyết triệt để tình trạng một căn nhà được nhiều môi giới spam.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Lọc 12,932 tin thiếu giá / diện tích: </a:t>
            </a:r>
            <a:r>
              <a:rPr sz="1100" b="0">
                <a:solidFill>
                  <a:srgbClr val="0F172A"/>
                </a:solidFill>
                <a:latin typeface="Arial"/>
              </a:rPr>
              <a:t>Loại bỏ các tin thỏa thuận, thương lượng, giá âm hoặc diện tích rỗng không thể khôi phục.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Tỷ lệ giữ lại Tầng Bạc (Silver): </a:t>
            </a:r>
            <a:r>
              <a:rPr sz="1100" b="0">
                <a:solidFill>
                  <a:srgbClr val="0F172A"/>
                </a:solidFill>
                <a:latin typeface="Arial"/>
              </a:rPr>
              <a:t>307,457 bản ghi sạch (giữ lại 87.83% so với Tầng Đồng Bronze).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Tỷ lệ toàn trình (Overall): </a:t>
            </a:r>
            <a:r>
              <a:rPr sz="1100" b="0">
                <a:solidFill>
                  <a:srgbClr val="0F172A"/>
                </a:solidFill>
                <a:latin typeface="Arial"/>
              </a:rPr>
              <a:t>Toàn bộ pipeline giữ lại 85.78% dữ liệu chuẩn mực, vượt xa tiêu chí nghiệm thu &gt;= 80%.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4. Kiểm Toán Chất Lượng &amp; Xử Lý Giá Trị Khuyết Thiếu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5 / 16</a:t>
            </a:r>
          </a:p>
        </p:txBody>
      </p:sp>
      <p:pic>
        <p:nvPicPr>
          <p:cNvPr id="4" name="Picture 3" descr="02_data_quality_miss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2942"/>
                </a:solidFill>
                <a:latin typeface="Arial"/>
              </a:defRPr>
            </a:pPr>
            <a:r>
              <a:t>CHIẾN LƯỢC XỬ LÝ 3 NHÓM THUỘC TÍNH: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Nhóm sạch (&lt; 5% null): </a:t>
            </a:r>
            <a:r>
              <a:rPr sz="1100" b="0">
                <a:solidFill>
                  <a:srgbClr val="0F172A"/>
                </a:solidFill>
                <a:latin typeface="Arial"/>
              </a:rPr>
              <a:t>name (0%), description (0%), province (0%), district (1.75%), price (0%), area (0%). Giữ nguyên vẹn, điền 'Không rõ' cho quận huyện thiếu.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Nhóm khuyết vừa (5% - 50%): </a:t>
            </a:r>
            <a:r>
              <a:rPr sz="1100" b="0">
                <a:solidFill>
                  <a:srgbClr val="0F172A"/>
                </a:solidFill>
                <a:latin typeface="Arial"/>
              </a:rPr>
              <a:t>ward (14.4%), street (40.4%), bedroom (24.8%), direction (46.8%). Điền 'Không rõ' cho phân loại và Median theo quận cho số phòng ngủ.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Nhóm khuyết cao (&gt; 50%): </a:t>
            </a:r>
            <a:r>
              <a:rPr sz="1100" b="0">
                <a:solidFill>
                  <a:srgbClr val="0F172A"/>
                </a:solidFill>
                <a:latin typeface="Arial"/>
              </a:rPr>
              <a:t>project_name (86.1%), frontage_width (64.2%), road_width (61.5%).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Nguyên tắc nghiệp vụ: </a:t>
            </a:r>
            <a:r>
              <a:rPr sz="1100" b="0">
                <a:solidFill>
                  <a:srgbClr val="0F172A"/>
                </a:solidFill>
                <a:latin typeface="Arial"/>
              </a:rPr>
              <a:t>TUYỆT ĐỐI KHÔNG XÓA CỘT khuyết cao vì khi có dữ liệu (ví dụ nhà mặt phố), giá trị kinh tế tăng vọt. Áp dụng Imputer chuyên biệt &amp; nhị phân hóa cờ NLP.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5. Thuật Toán Lọc Ngoại Lệ Thống Kê (Domain + IQR)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6 / 16</a:t>
            </a:r>
          </a:p>
        </p:txBody>
      </p:sp>
      <p:pic>
        <p:nvPicPr>
          <p:cNvPr id="4" name="Picture 3" descr="03_distribution_outli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50" b="1">
                <a:solidFill>
                  <a:srgbClr val="0F2942"/>
                </a:solidFill>
                <a:latin typeface="Arial"/>
              </a:defRPr>
            </a:pPr>
            <a:r>
              <a:t>ĐỐI CHIẾU SỐ LIỆU TRƯỚC (BẠC) VS SAU (VÀNG):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2942"/>
                </a:solidFill>
                <a:latin typeface="Arial"/>
              </a:rPr>
              <a:t>• Loại bỏ 7,162 ngoại lệ (2.33%): </a:t>
            </a:r>
            <a:r>
              <a:rPr sz="1050" b="0">
                <a:solidFill>
                  <a:srgbClr val="0F172A"/>
                </a:solidFill>
                <a:latin typeface="Arial"/>
              </a:rPr>
              <a:t>Kết hợp biên nghiệp vụ [0.1 - 500 tỷ, 10 - 5000 m²] với phân vị IQR trên log-scale.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2942"/>
                </a:solidFill>
                <a:latin typeface="Arial"/>
              </a:rPr>
              <a:t>• Độ lệch chuẩn Giá (Std): </a:t>
            </a:r>
            <a:r>
              <a:rPr sz="1050" b="0">
                <a:solidFill>
                  <a:srgbClr val="0F172A"/>
                </a:solidFill>
                <a:latin typeface="Arial"/>
              </a:rPr>
              <a:t>Từ 2,006.6 Tỷ GIẢM 77 LẦN còn 25.98 Tỷ VNĐ (Triệt tiêu tin ảo 881,020 tỷ).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2942"/>
                </a:solidFill>
                <a:latin typeface="Arial"/>
              </a:rPr>
              <a:t>• TRUNG VỊ GIÁ BẢO TOÀN: </a:t>
            </a:r>
            <a:r>
              <a:rPr sz="1050" b="0">
                <a:solidFill>
                  <a:srgbClr val="0F172A"/>
                </a:solidFill>
                <a:latin typeface="Arial"/>
              </a:rPr>
              <a:t>7.2 Tỷ (Silver) -&gt; 7.3 Tỷ (Gold). Không làm méo mó bản chất thị trường!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2942"/>
                </a:solidFill>
                <a:latin typeface="Arial"/>
              </a:rPr>
              <a:t>• Độ lệch chuẩn Diện tích (Std): </a:t>
            </a:r>
            <a:r>
              <a:rPr sz="1050" b="0">
                <a:solidFill>
                  <a:srgbClr val="0F172A"/>
                </a:solidFill>
                <a:latin typeface="Arial"/>
              </a:rPr>
              <a:t>Từ 51,332 m² GIẢM 208 LẦN còn 246.5 m² (Triệt tiêu diện tích ảo 24M m²).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2942"/>
                </a:solidFill>
                <a:latin typeface="Arial"/>
              </a:rPr>
              <a:t>• TRUNG VỊ DIỆN TÍCH: </a:t>
            </a:r>
            <a:r>
              <a:rPr sz="1050" b="0">
                <a:solidFill>
                  <a:srgbClr val="0F172A"/>
                </a:solidFill>
                <a:latin typeface="Arial"/>
              </a:rPr>
              <a:t>Giữ nguyên vẹn 100% tại 80.0 m².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2942"/>
                </a:solidFill>
                <a:latin typeface="Arial"/>
              </a:rPr>
              <a:t>• Độ lệch chuẩn Đơn giá/m²: </a:t>
            </a:r>
            <a:r>
              <a:rPr sz="1050" b="0">
                <a:solidFill>
                  <a:srgbClr val="0F172A"/>
                </a:solidFill>
                <a:latin typeface="Arial"/>
              </a:rPr>
              <a:t>Từ 48,836 Tr/m² GIẢM 385 LẦN còn 126.8 Tr/m².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6. Toàn Cảnh Thị Trường Bất Động Sản (Big Data 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7 / 16</a:t>
            </a:r>
          </a:p>
        </p:txBody>
      </p:sp>
      <p:pic>
        <p:nvPicPr>
          <p:cNvPr id="4" name="Picture 3" descr="04_mark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2942"/>
                </a:solidFill>
                <a:latin typeface="Arial"/>
              </a:defRPr>
            </a:pPr>
            <a:r>
              <a:t>INSIGHT PHÂN BỐ THỊ TRƯỜNG: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Hà Nội dẫn đầu giá trung vị: </a:t>
            </a:r>
            <a:r>
              <a:rPr sz="1100" b="0">
                <a:solidFill>
                  <a:srgbClr val="0F172A"/>
                </a:solidFill>
                <a:latin typeface="Arial"/>
              </a:rPr>
              <a:t>8.90 Tỷ VNĐ (104.8k tin), đơn giá trung vị 148.5 Tr/m², giao dịch sôi động nhà ngõ &amp; mặt phố.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TP. Hồ Chí Minh bám sát: </a:t>
            </a:r>
            <a:r>
              <a:rPr sz="1100" b="0">
                <a:solidFill>
                  <a:srgbClr val="0F172A"/>
                </a:solidFill>
                <a:latin typeface="Arial"/>
              </a:rPr>
              <a:t>8.50 Tỷ VNĐ (105.7k tin), đơn giá trung vị 135.2 Tr/m², biên độ phân hóa lớn giữa trung tâm và vùng ven.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Đà Nẵng &amp; Bình Dương: </a:t>
            </a:r>
            <a:r>
              <a:rPr sz="1100" b="0">
                <a:solidFill>
                  <a:srgbClr val="0F172A"/>
                </a:solidFill>
                <a:latin typeface="Arial"/>
              </a:rPr>
              <a:t>Đà Nẵng median 7.57 Tỷ (thị trường ven biển); Bình Dương median 2.91 Tỷ (nhà ở công nghiệp/chuyên gia).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Cơ cấu theo loại hình: </a:t>
            </a:r>
            <a:r>
              <a:rPr sz="1100" b="0">
                <a:solidFill>
                  <a:srgbClr val="0F172A"/>
                </a:solidFill>
                <a:latin typeface="Arial"/>
              </a:rPr>
              <a:t>Nhà mặt phố &amp; Biệt thự liền kề có giá trị trung vị cao nhất, tiếp theo là Nhà riêng và Căn hộ chung cư.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7. Kỹ Thuật Đặc Trưng Văn Bản NLP &amp; Chuẩn Hóa Logarit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8 / 16</a:t>
            </a:r>
          </a:p>
        </p:txBody>
      </p:sp>
      <p:pic>
        <p:nvPicPr>
          <p:cNvPr id="4" name="Picture 3" descr="eda_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2942"/>
                </a:solidFill>
                <a:latin typeface="Arial"/>
              </a:defRPr>
            </a:pPr>
            <a:r>
              <a:t>TRÍCH XUẤT NLP &amp; LOG-SCALE: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Cờ pháp lý (has_so_do): </a:t>
            </a:r>
            <a:r>
              <a:rPr sz="1100" b="0">
                <a:solidFill>
                  <a:srgbClr val="0F172A"/>
                </a:solidFill>
                <a:latin typeface="Arial"/>
              </a:rPr>
              <a:t>Nhận diện từ khóa 'sổ đỏ', 'sổ hồng', 'chính chủ', 'pháp lý chuẩn'. Đẩy thanh khoản và giá nhà tăng rõ rệt.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Cờ vị trí (is_frontage, is_alley): </a:t>
            </a:r>
            <a:r>
              <a:rPr sz="1100" b="0">
                <a:solidFill>
                  <a:srgbClr val="0F172A"/>
                </a:solidFill>
                <a:latin typeface="Arial"/>
              </a:rPr>
              <a:t>Nhận diện 'mặt phố', 'kinh doanh' vs 'ngõ hẻm', 'ba gác'. Mặt phố có đơn giá gấp 2-3 lần nhà ngõ.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Cờ tiện nghi (has_furniture, has_car_access): </a:t>
            </a:r>
            <a:r>
              <a:rPr sz="1100" b="0">
                <a:solidFill>
                  <a:srgbClr val="0F172A"/>
                </a:solidFill>
                <a:latin typeface="Arial"/>
              </a:rPr>
              <a:t>Nhận diện 'full nội thất', 'ô tô đỗ cửa', 'gara ô tô'.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Biến đổi log1p(price) &amp; log1p(area): </a:t>
            </a:r>
            <a:r>
              <a:rPr sz="1100" b="0">
                <a:solidFill>
                  <a:srgbClr val="0F172A"/>
                </a:solidFill>
                <a:latin typeface="Arial"/>
              </a:rPr>
              <a:t>Kéo độ lệch Skewness từ 6.70 xuống 0.24 (gần chuẩn Gauss), giúp hàm mất mát MSE hội tụ tối ưu.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8. Giao Thức Phân Chia 3 Chiều Chống Rò Rỉ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9 /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0F2942"/>
                </a:solidFill>
                <a:latin typeface="Arial"/>
              </a:defRPr>
            </a:pPr>
            <a:r>
              <a:t>TẬP HUẤN LUYỆN (TRAIN SET)</a:t>
            </a:r>
          </a:p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70%</a:t>
            </a:r>
          </a:p>
          <a:p>
            <a:pPr>
              <a:spcAft>
                <a:spcPts val="1600"/>
              </a:spcAft>
              <a:defRPr sz="1400" b="1">
                <a:solidFill>
                  <a:srgbClr val="F58220"/>
                </a:solidFill>
                <a:latin typeface="Arial"/>
              </a:defRPr>
            </a:pPr>
            <a:r>
              <a:t>210,206 mẫu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Toàn bộ Target Encoding, Imputer, Scaler CHỈ ĐƯỢC FIT trên tập dữ liệu này. Tuyệt đối không nhìn trước dữ liệu tương lai.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0F2942"/>
                </a:solidFill>
                <a:latin typeface="Arial"/>
              </a:defRPr>
            </a:pPr>
            <a:r>
              <a:t>TẬP KIỂM ĐỊNH (VALIDATION SET)</a:t>
            </a:r>
          </a:p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15%</a:t>
            </a:r>
          </a:p>
          <a:p>
            <a:pPr>
              <a:spcAft>
                <a:spcPts val="1600"/>
              </a:spcAft>
              <a:defRPr sz="1400" b="1">
                <a:solidFill>
                  <a:srgbClr val="F58220"/>
                </a:solidFill>
                <a:latin typeface="Arial"/>
              </a:defRPr>
            </a:pPr>
            <a:r>
              <a:t>45,044 mẫu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Sử dụng độc quyền để điều chỉnh siêu tham số (Hyperparameter Tuning) và cơ chế Early Stopping chống Overfitting.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0F2942"/>
                </a:solidFill>
                <a:latin typeface="Arial"/>
              </a:defRPr>
            </a:pPr>
            <a:r>
              <a:t>TẬP KIỂM THỬ ĐỘC LẬP (TEST SET)</a:t>
            </a:r>
          </a:p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15%</a:t>
            </a:r>
          </a:p>
          <a:p>
            <a:pPr>
              <a:spcAft>
                <a:spcPts val="1600"/>
              </a:spcAft>
              <a:defRPr sz="1400" b="1">
                <a:solidFill>
                  <a:srgbClr val="F58220"/>
                </a:solidFill>
                <a:latin typeface="Arial"/>
              </a:defRPr>
            </a:pPr>
            <a:r>
              <a:t>45,045 mẫu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Được giữ bí mật tuyệt đối trong quá trình huấn luyện; CHỈ ĐƯỢC CHẤM ĐIỂM ĐÚNG 1 LẦN DUY NHẤT để đánh giá năng lực tổng quát hóa.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9. Thuật Toán Học Máy: Ridge Baseline vs LightGBM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10 / 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377440"/>
                <a:gridCol w="301752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Chỉ Số Đánh Giá (Metric)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Ridge Baseline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LightGBM Regressor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Mức Độ Cải Thiện Vượt Trội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Hệ số xác định R² (log-scale)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0.6266 (62.7%)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0.8537 (85.4%)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TĂNG +36.2% (Giải thích 85.4% phương sai)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Sai số căn quân phương RMSE (log)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0.6556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0.4104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GIẢM -37.4% sai số toàn phương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Sai số tuyệt đối trung bình MAE (log)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GIẢM -40.9% sai số tuyệt đối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MAE trên thang tiền tệ thực tế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10.18 Tỷ VNĐ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4.64 Tỷ VNĐ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GIẢM -54.4% (Sai số giảm hơn một nửa!)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Sai số tuyệt đối trung vị (MedAE)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2.62 Tỷ VNĐ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1.36 Tỷ VNĐ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GIẢM -48.2% (50% nhà lệch dưới 1.36 tỷ)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Sai số tỷ lệ trung vị (MdAPE)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37.28%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20.47%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CẢI THIỆN -45.1% (Sai số thực tế chỉ ~20%)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10. Tầm Quan Trọng Đặc Trưng &amp; Chẩn Đoán Sai Số Mô Hình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11 / 16</a:t>
            </a:r>
          </a:p>
        </p:txBody>
      </p:sp>
      <p:pic>
        <p:nvPicPr>
          <p:cNvPr id="4" name="Picture 3" descr="05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754880"/>
          </a:xfrm>
          <a:prstGeom prst="rect">
            <a:avLst/>
          </a:prstGeom>
        </p:spPr>
      </p:pic>
      <p:pic>
        <p:nvPicPr>
          <p:cNvPr id="5" name="Picture 4" descr="06_residual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11. Hiệu Năng Tính Toán Song Song &amp; Tối Ưu Hóa Lưu Trữ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12 / 16</a:t>
            </a:r>
          </a:p>
        </p:txBody>
      </p:sp>
      <p:pic>
        <p:nvPicPr>
          <p:cNvPr id="4" name="Picture 3" descr="07_pipeline_performance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2942"/>
                </a:solidFill>
                <a:latin typeface="Arial"/>
              </a:defRPr>
            </a:pPr>
            <a:r>
              <a:t>THÔNG SỐ HIỆU NĂNG &amp; DUNG LƯỢNG: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Tổng thời gian pipeline: </a:t>
            </a:r>
            <a:r>
              <a:rPr sz="1100" b="0">
                <a:solidFill>
                  <a:srgbClr val="0F172A"/>
                </a:solidFill>
                <a:latin typeface="Arial"/>
              </a:rPr>
              <a:t>451.4 giây (~7.52 phút) cho 350,075 dòng thô.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Thông lượng xử lý PySpark: </a:t>
            </a:r>
            <a:r>
              <a:rPr sz="1100" b="0">
                <a:solidFill>
                  <a:srgbClr val="0F172A"/>
                </a:solidFill>
                <a:latin typeface="Arial"/>
              </a:rPr>
              <a:t>Ingestion: 10,002 dòng/s | Silver: 6,956 dòng/s | Gold: 4,010 dòng/s | Loading: 1,038 dòng/s.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Nén Parquet Snappy: </a:t>
            </a:r>
            <a:r>
              <a:rPr sz="1100" b="0">
                <a:solidFill>
                  <a:srgbClr val="0F172A"/>
                </a:solidFill>
                <a:latin typeface="Arial"/>
              </a:rPr>
              <a:t>Giảm từ 217 MB (CSV thô) xuống 153.9 MB (Bronze) và 128.2 MB (Gold) - Tiết kiệm 29.1% dung lượng.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CSDL Phục Vụ SQLite: </a:t>
            </a:r>
            <a:r>
              <a:rPr sz="1100" b="0">
                <a:solidFill>
                  <a:srgbClr val="0F172A"/>
                </a:solidFill>
                <a:latin typeface="Arial"/>
              </a:rPr>
              <a:t>Tối ưu hóa chỉ còn 17.4 MB, tích hợp 4 chỉ mục B-Tree, tốc độ truy vấn phục vụ Web dưới 50ms.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12. Tự Động Hóa Kiểm Thử &amp; Hướng Dẫn Vận Hành 1-Click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13 /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50" b="1">
                <a:solidFill>
                  <a:srgbClr val="16A34A"/>
                </a:solidFill>
                <a:latin typeface="Arial"/>
              </a:defRPr>
            </a:pPr>
            <a:r>
              <a:t>BỘ KIỂM THỬ TỰ ĐỘNG (10/10 TESTS PASS):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✔ 1. test_directories_exist (Cấu trúc thư mục chuẩn)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✔ 2. test_bronze_parquet (350,075 dòng, 3 cột Lineage)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✔ 3. test_silver_parquet (307,457 dòng, sạch null/âm)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✔ 4. test_gold_parquet (300,295 dòng, cờ NLP &amp; log)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✔ 5. test_data_quality_report (Kiểm toán JSON &amp; phễu)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✔ 6. test_storage_database (Khớp 100%, 4 B-Tree Index)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✔ 7. test_three_way_split_protocol (70/15/15, R² &gt;= 0.80)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✔ 8. test_train_serving_consistency (Đồng nhất pipeline)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✔ 9. test_evaluation_diagnostics (Biểu đồ chẩn đoán)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✔ 10. test_pipeline_summary_metrics (7 mục &amp; 7 biểu đồ)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50" b="1">
                <a:solidFill>
                  <a:srgbClr val="0F2942"/>
                </a:solidFill>
                <a:latin typeface="Arial"/>
              </a:defRPr>
            </a:pPr>
            <a:r>
              <a:t>CÁC BƯỚC VẬN HÀNH DỰ ÁN DỄ DÀNG: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Menu tương tác trung tâm (run.bat): </a:t>
            </a:r>
            <a:r>
              <a:rPr sz="1100" b="0">
                <a:solidFill>
                  <a:srgbClr val="0F172A"/>
                </a:solidFill>
                <a:latin typeface="Arial"/>
              </a:rPr>
              <a:t>Nhấp đúp run.bat trên Windows, chọn phím số từ [1] đến [9] để chạy ứng dụng hoặc pipeline.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Chạy toàn bộ pipeline (chay_pipeline.bat): </a:t>
            </a:r>
            <a:r>
              <a:rPr sz="1100" b="0">
                <a:solidFill>
                  <a:srgbClr val="0F172A"/>
                </a:solidFill>
                <a:latin typeface="Arial"/>
              </a:rPr>
              <a:t>python run_pipeline.py all (hoặc make all): Tự động nạp, ETL, nạp DB và huấn luyện mô hình.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Khởi chạy Web Streamlit (chay_app.bat): </a:t>
            </a:r>
            <a:r>
              <a:rPr sz="1100" b="0">
                <a:solidFill>
                  <a:srgbClr val="0F172A"/>
                </a:solidFill>
                <a:latin typeface="Arial"/>
              </a:rPr>
              <a:t>streamlit run src/serving/app.py: Mở ngay giao diện trực quan tại http://localhost:8501.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Chạy bộ kiểm thử tự động: </a:t>
            </a:r>
            <a:r>
              <a:rPr sz="1100" b="0">
                <a:solidFill>
                  <a:srgbClr val="0F172A"/>
                </a:solidFill>
                <a:latin typeface="Arial"/>
              </a:rPr>
              <a:t>pytest tests/test_pipelines.py -v (10/10 ca kiểm thử pass trong 4.73 giây).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13. Giao Diện Ứng Dụng Web Streamlit 4 Phân 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14 /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F2942"/>
                </a:solidFill>
                <a:latin typeface="Arial"/>
              </a:defRPr>
            </a:pPr>
            <a:r>
              <a:t>TAB 1: KIẾN TRÚC LAKEHOUSE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Trực quan hóa sơ đồ 6 tầng, quy mô 3.5M dòng trên 10 shards, lưu lượng và các thuộc tính qua từng tầng.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F2942"/>
                </a:solidFill>
                <a:latin typeface="Arial"/>
              </a:defRPr>
            </a:pPr>
            <a:r>
              <a:t>TAB 2: CHẤT LƯỢNG &amp; BIẾN ĐỔI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Biểu đồ phễu lưu lượng 2 panel, tỷ lệ khuyết thiếu phân 3 nhóm màu, bảng 5 số thống kê TRƯỚC vs SAU lọc ngoại lệ.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F2942"/>
                </a:solidFill>
                <a:latin typeface="Arial"/>
              </a:defRPr>
            </a:pPr>
            <a:r>
              <a:t>TAB 3: PHÂN TÍCH THỊ TRƯỜNG (EDA)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Bản đồ giá trung vị theo tỉnh thành, phân tích loại hình bất động sản, đơn giá theo phòng ngủ và ma trận tương quan.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2120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F2942"/>
                </a:solidFill>
                <a:latin typeface="Arial"/>
              </a:defRPr>
            </a:pPr>
            <a:r>
              <a:t>TAB 4: HIỆU NĂNG &amp; ĐỊNH GIÁ AI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Dashboard giám sát pipeline, hiệu quả nén Parquet Snappy, biểu mẫu định giá nhà tự động bằng LightGBM theo thời gian thực.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8220"/>
                </a:solidFill>
                <a:latin typeface="Arial"/>
              </a:defRPr>
            </a:pPr>
            <a:r>
              <a:t>TÍCH HỢP &amp; PHÂN TÍCH DỮ LIỆU LỚN | TRƯỜNG ĐH PHENIKAA</a:t>
            </a:r>
          </a:p>
          <a:p>
            <a:pPr>
              <a:defRPr sz="2200" b="1">
                <a:solidFill>
                  <a:srgbClr val="0F2942"/>
                </a:solidFill>
                <a:latin typeface="Arial"/>
              </a:defRPr>
            </a:pPr>
            <a:r>
              <a:t>14. Kết Luận, Giới Hạn Khách Quan &amp;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SV: Phạm Văn Minh (MSV: 23010350) — Trường Công nghệ Thông tin, Đại học Phenikaa                                                     Slide 15 /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6A34A"/>
                </a:solidFill>
                <a:latin typeface="Arial"/>
              </a:defRPr>
            </a:pPr>
            <a:r>
              <a:t>KẾT QUẢ ĐẠT ĐƯỢC: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Hoàn thiện pipeline 6 tầng: </a:t>
            </a:r>
            <a:r>
              <a:rPr sz="1100" b="0">
                <a:solidFill>
                  <a:srgbClr val="0F172A"/>
                </a:solidFill>
                <a:latin typeface="Arial"/>
              </a:rPr>
              <a:t>Tuân thủ chuẩn mực Medallion Lakehouse, xử lý phân tán PySpark.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Kiểm soát chất lượng khoa học: </a:t>
            </a:r>
            <a:r>
              <a:rPr sz="1100" b="0">
                <a:solidFill>
                  <a:srgbClr val="0F172A"/>
                </a:solidFill>
                <a:latin typeface="Arial"/>
              </a:rPr>
              <a:t>Khử 29.7k trùng lặp, lọc 7.1k ngoại lệ, giảm phương sai giá 77 lần mà bảo toàn trung vị.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Mô hình LightGBM tối ưu: </a:t>
            </a:r>
            <a:r>
              <a:rPr sz="1100" b="0">
                <a:solidFill>
                  <a:srgbClr val="0F172A"/>
                </a:solidFill>
                <a:latin typeface="Arial"/>
              </a:rPr>
              <a:t>R² = 0.8537, MdAPE = 20.47%, vượt trội hoàn toàn baseline Ridge.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Độ tin cậy &amp; tự động hóa cao: </a:t>
            </a:r>
            <a:r>
              <a:rPr sz="1100" b="0">
                <a:solidFill>
                  <a:srgbClr val="0F172A"/>
                </a:solidFill>
                <a:latin typeface="Arial"/>
              </a:rPr>
              <a:t>10/10 ca Pytest passed, đóng gói batch 1-click Windows và Streamlit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F58220"/>
                </a:solidFill>
                <a:latin typeface="Arial"/>
              </a:defRPr>
            </a:pPr>
            <a:r>
              <a:t>GIỚI HẠN KHÁCH QUAN &amp; HƯỚNG MỞ RỘNG: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Giới hạn 1 - Phân mảnh thực nghiệm: </a:t>
            </a:r>
            <a:r>
              <a:rPr sz="1100" b="0">
                <a:solidFill>
                  <a:srgbClr val="0F172A"/>
                </a:solidFill>
                <a:latin typeface="Arial"/>
              </a:rPr>
              <a:t>Thực nghiệm trên 1 shard (350k dòng) do giới hạn máy trạm cá nhân; mở rộng 3.5M dòng cần cụm Spark Cluster.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Giới hạn 2 - Bản chất giá rao bán: </a:t>
            </a:r>
            <a:r>
              <a:rPr sz="1100" b="0">
                <a:solidFill>
                  <a:srgbClr val="0F172A"/>
                </a:solidFill>
                <a:latin typeface="Arial"/>
              </a:rPr>
              <a:t>Asking price phản ánh kỳ vọng người bán, thường cao hơn 5-15% so với giá giao dịch thực tế tại phòng công chứng.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Giới hạn 3 - Tọa độ không gian: </a:t>
            </a:r>
            <a:r>
              <a:rPr sz="1100" b="0">
                <a:solidFill>
                  <a:srgbClr val="0F172A"/>
                </a:solidFill>
                <a:latin typeface="Arial"/>
              </a:rPr>
              <a:t>Dữ liệu thiếu tọa độ GPS chính xác từng số nhà để tính khoảng cách đến trường học/bệnh viện.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2942"/>
                </a:solidFill>
                <a:latin typeface="Arial"/>
              </a:rPr>
              <a:t>• Lộ trình tương lai: </a:t>
            </a:r>
            <a:r>
              <a:rPr sz="1100" b="0">
                <a:solidFill>
                  <a:srgbClr val="0F172A"/>
                </a:solidFill>
                <a:latin typeface="Arial"/>
              </a:rPr>
              <a:t>Mở rộng cụm phân tán Spark trên Cloud, tích hợp Geocoding API và mô hình đồ thị tri thức GNN.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2800" b="1">
                <a:solidFill>
                  <a:srgbClr val="F58220"/>
                </a:solidFill>
                <a:latin typeface="Arial"/>
              </a:defRPr>
            </a:pPr>
            <a:r>
              <a:t>TRÂN TRỌNG CẢM ƠN QUÝ THẦY CÔ VÀ HỘI ĐỒNG!</a:t>
            </a:r>
          </a:p>
          <a:p>
            <a:pPr algn="ctr">
              <a:spcAft>
                <a:spcPts val="36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KÍNH MỜI QUÝ THẦY CÔ ĐẶT CÂU HỎI &amp; ĐÓNG GÓP Ý KIẾN (Q &amp; A)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Sinh viên thực hiện: Phạm Văn Minh  —  MSV: 23010350</a:t>
            </a:r>
          </a:p>
          <a:p>
            <a:pPr algn="ctr">
              <a:defRPr sz="1300">
                <a:solidFill>
                  <a:srgbClr val="64748B"/>
                </a:solidFill>
                <a:latin typeface="Arial"/>
              </a:defRPr>
            </a:pPr>
            <a:r>
              <a:t>Email: 23010350@st.phenikaa-uni.edu.vn  —  Trường Công nghệ Thông tin, Đại học Phenikaa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