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45720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10332720" cy="4754880"/>
          </a:xfrm>
          <a:prstGeom prst="rect">
            <a:avLst/>
          </a:prstGeom>
          <a:noFill/>
        </p:spPr>
        <p:txBody>
          <a:bodyPr wrap="square">
            <a:spAutoFit/>
          </a:bodyPr>
          <a:lstStyle/>
          <a:p>
            <a:pPr>
              <a:spcAft>
                <a:spcPts val="800"/>
              </a:spcAft>
              <a:defRPr sz="1300" b="1">
                <a:solidFill>
                  <a:srgbClr val="F58220"/>
                </a:solidFill>
                <a:latin typeface="Arial"/>
              </a:defRPr>
            </a:pPr>
            <a:r>
              <a:t>TRƯỜNG ĐẠI HỌC PHENIKAA — TRƯỜNG CÔNG NGHỆ THÔNG TIN</a:t>
            </a:r>
          </a:p>
          <a:p>
            <a:pPr>
              <a:spcAft>
                <a:spcPts val="1600"/>
              </a:spcAft>
              <a:defRPr sz="1400" b="1">
                <a:solidFill>
                  <a:srgbClr val="FFFFFF"/>
                </a:solidFill>
                <a:latin typeface="Arial"/>
              </a:defRPr>
            </a:pPr>
            <a:r>
              <a:t>BÁO CÁO BẢO VỆ ĐỒ ÁN HỌC PHẦN: TÍCH HỢP VÀ PHÂN TÍCH DỮ LIỆU LỚN</a:t>
            </a:r>
          </a:p>
          <a:p>
            <a:pPr>
              <a:spcAft>
                <a:spcPts val="2800"/>
              </a:spcAft>
              <a:defRPr sz="2300" b="1">
                <a:solidFill>
                  <a:srgbClr val="FFFFFF"/>
                </a:solidFill>
                <a:latin typeface="Arial"/>
              </a:defRPr>
            </a:pPr>
            <a:r>
              <a:t>NGHIÊN CỨU XÂY DỰNG HỆ THỐNG HỒ DỮ LIỆU ĐA TẦNG MEDALLION TÍCH HỢP DỮ LIỆU LỚN VÀ ĐỊNH GIÁ BẤT ĐỘNG SẢN VIỆT NAM BẰNG MÔ HÌNH HỌC MÁY LIGHTGBM</a:t>
            </a:r>
          </a:p>
          <a:p>
            <a:pPr>
              <a:spcAft>
                <a:spcPts val="600"/>
              </a:spcAft>
              <a:defRPr sz="1400" b="1">
                <a:solidFill>
                  <a:srgbClr val="F58220"/>
                </a:solidFill>
                <a:latin typeface="Arial"/>
              </a:defRPr>
            </a:pPr>
            <a:r>
              <a:t>Sinh viên thực hiện: PHẠM VĂN MINH       |       Mã sinh viên: 23010350</a:t>
            </a:r>
          </a:p>
          <a:p>
            <a:pPr>
              <a:spcAft>
                <a:spcPts val="600"/>
              </a:spcAft>
              <a:defRPr sz="1250">
                <a:solidFill>
                  <a:srgbClr val="FFFFFF"/>
                </a:solidFill>
                <a:latin typeface="Arial"/>
              </a:defRPr>
            </a:pPr>
            <a:r>
              <a:t>Email: 23010350@st.phenikaa-uni.edu.vn   |   Khóa: K17 — Công nghệ Thông tin</a:t>
            </a:r>
          </a:p>
          <a:p>
            <a:pPr>
              <a:defRPr sz="1150">
                <a:solidFill>
                  <a:srgbClr val="64748B"/>
                </a:solidFill>
                <a:latin typeface="Arial"/>
              </a:defRPr>
            </a:pPr>
            <a:r>
              <a:t>Công nghệ: Apache PySpark 3.5 • Parquet Snappy • PostgreSQL/SQLite • LightGBM • Streamlit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 Tổng Quan Bài Toán &amp; Thách Thức Dữ Liệu Lớn</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2 / 16</a:t>
            </a:r>
          </a:p>
        </p:txBody>
      </p:sp>
      <p:sp>
        <p:nvSpPr>
          <p:cNvPr id="4" name="Rounded Rectangle 3"/>
          <p:cNvSpPr/>
          <p:nvPr/>
        </p:nvSpPr>
        <p:spPr>
          <a:xfrm>
            <a:off x="731520" y="1371600"/>
            <a:ext cx="3383280" cy="1188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64748B"/>
                </a:solidFill>
                <a:latin typeface="Arial"/>
              </a:defRPr>
            </a:pPr>
            <a:r>
              <a:t>KHO NGUỒN HUGGING FACE</a:t>
            </a:r>
          </a:p>
          <a:p>
            <a:pPr>
              <a:defRPr sz="2200" b="1">
                <a:solidFill>
                  <a:srgbClr val="1E40AF"/>
                </a:solidFill>
                <a:latin typeface="Arial"/>
              </a:defRPr>
            </a:pPr>
            <a:r>
              <a:t>3,500,744</a:t>
            </a:r>
          </a:p>
          <a:p>
            <a:pPr>
              <a:defRPr sz="950">
                <a:solidFill>
                  <a:srgbClr val="0F172A"/>
                </a:solidFill>
                <a:latin typeface="Arial"/>
              </a:defRPr>
            </a:pPr>
            <a:r>
              <a:t>bản ghi trên 10 phân mảnh</a:t>
            </a:r>
          </a:p>
        </p:txBody>
      </p:sp>
      <p:sp>
        <p:nvSpPr>
          <p:cNvPr id="5" name="Rounded Rectangle 4"/>
          <p:cNvSpPr/>
          <p:nvPr/>
        </p:nvSpPr>
        <p:spPr>
          <a:xfrm>
            <a:off x="4389120" y="1371600"/>
            <a:ext cx="3383280" cy="1188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64748B"/>
                </a:solidFill>
                <a:latin typeface="Arial"/>
              </a:defRPr>
            </a:pPr>
            <a:r>
              <a:t>PHÂN MẢNH THỰC NGHIỆM</a:t>
            </a:r>
          </a:p>
          <a:p>
            <a:pPr>
              <a:defRPr sz="2200" b="1">
                <a:solidFill>
                  <a:srgbClr val="1E40AF"/>
                </a:solidFill>
                <a:latin typeface="Arial"/>
              </a:defRPr>
            </a:pPr>
            <a:r>
              <a:t>350,075</a:t>
            </a:r>
          </a:p>
          <a:p>
            <a:pPr>
              <a:defRPr sz="950">
                <a:solidFill>
                  <a:srgbClr val="0F172A"/>
                </a:solidFill>
                <a:latin typeface="Arial"/>
              </a:defRPr>
            </a:pPr>
            <a:r>
              <a:t>bản ghi thô Shard 0000 Parquet</a:t>
            </a:r>
          </a:p>
        </p:txBody>
      </p:sp>
      <p:sp>
        <p:nvSpPr>
          <p:cNvPr id="6" name="Rounded Rectangle 5"/>
          <p:cNvSpPr/>
          <p:nvPr/>
        </p:nvSpPr>
        <p:spPr>
          <a:xfrm>
            <a:off x="8046720" y="1371600"/>
            <a:ext cx="3383280" cy="1188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64748B"/>
                </a:solidFill>
                <a:latin typeface="Arial"/>
              </a:defRPr>
            </a:pPr>
            <a:r>
              <a:t>TẦNG VÀNG SẠCH SAU ETL</a:t>
            </a:r>
          </a:p>
          <a:p>
            <a:pPr>
              <a:defRPr sz="2200" b="1">
                <a:solidFill>
                  <a:srgbClr val="1E40AF"/>
                </a:solidFill>
                <a:latin typeface="Arial"/>
              </a:defRPr>
            </a:pPr>
            <a:r>
              <a:t>300,295</a:t>
            </a:r>
          </a:p>
          <a:p>
            <a:pPr>
              <a:defRPr sz="950">
                <a:solidFill>
                  <a:srgbClr val="0F172A"/>
                </a:solidFill>
                <a:latin typeface="Arial"/>
              </a:defRPr>
            </a:pPr>
            <a:r>
              <a:t>bản ghi phục vụ phân tích &amp; ML (85.8%)</a:t>
            </a:r>
          </a:p>
        </p:txBody>
      </p:sp>
      <p:sp>
        <p:nvSpPr>
          <p:cNvPr id="7" name="Rounded Rectangle 6"/>
          <p:cNvSpPr/>
          <p:nvPr/>
        </p:nvSpPr>
        <p:spPr>
          <a:xfrm>
            <a:off x="731520" y="2743200"/>
            <a:ext cx="10698480" cy="3474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50" b="1">
                <a:solidFill>
                  <a:srgbClr val="0F2942"/>
                </a:solidFill>
                <a:latin typeface="Arial"/>
              </a:defRPr>
            </a:pPr>
            <a:r>
              <a:t>4 THÁCH THỨC ĐẶC THÙ CỦA DỮ LIỆU BẤT ĐỘNG SẢN VIỆT NAM:</a:t>
            </a:r>
          </a:p>
          <a:p>
            <a:pPr>
              <a:spcAft>
                <a:spcPts val="800"/>
              </a:spcAft>
            </a:pPr>
            <a:r>
              <a:rPr sz="1200" b="1">
                <a:solidFill>
                  <a:srgbClr val="0F2942"/>
                </a:solidFill>
                <a:latin typeface="Arial"/>
              </a:rPr>
              <a:t>• Quy mô dữ liệu lớn: </a:t>
            </a:r>
            <a:r>
              <a:rPr sz="1200" b="0">
                <a:solidFill>
                  <a:srgbClr val="0F172A"/>
                </a:solidFill>
                <a:latin typeface="Arial"/>
              </a:rPr>
              <a:t>3.5 triệu tin đăng vượt quá khả năng xử lý trên bộ nhớ đơn lẻ; giải quyết bằng kiến trúc xử lý phân tán Apache PySpark.</a:t>
            </a:r>
          </a:p>
          <a:p>
            <a:pPr>
              <a:spcAft>
                <a:spcPts val="800"/>
              </a:spcAft>
            </a:pPr>
            <a:r>
              <a:rPr sz="1200" b="1">
                <a:solidFill>
                  <a:srgbClr val="0F2942"/>
                </a:solidFill>
                <a:latin typeface="Arial"/>
              </a:rPr>
              <a:t>• Độ tin cậy và xử lý nhiễu loạn: </a:t>
            </a:r>
            <a:r>
              <a:rPr sz="1200" b="0">
                <a:solidFill>
                  <a:srgbClr val="0F172A"/>
                </a:solidFill>
                <a:latin typeface="Arial"/>
              </a:rPr>
              <a:t>Môi giới đăng tải hàng loạt tin trùng lặp; tin rác báo giá ảo 881,020 tỷ đồng, diện tích 24 triệu m²; thiếu chuẩn hóa đơn vị (tỷ, triệu, đ/m², thương lượng).</a:t>
            </a:r>
          </a:p>
          <a:p>
            <a:pPr>
              <a:spcAft>
                <a:spcPts val="800"/>
              </a:spcAft>
            </a:pPr>
            <a:r>
              <a:rPr sz="1200" b="1">
                <a:solidFill>
                  <a:srgbClr val="0F2942"/>
                </a:solidFill>
                <a:latin typeface="Arial"/>
              </a:rPr>
              <a:t>• Dữ liệu văn bản phi cấu trúc: </a:t>
            </a:r>
            <a:r>
              <a:rPr sz="1200" b="0">
                <a:solidFill>
                  <a:srgbClr val="0F172A"/>
                </a:solidFill>
                <a:latin typeface="Arial"/>
              </a:rPr>
              <a:t>Yếu tố định giá quan trọng như sổ đỏ, nhà mặt tiền, ngõ ô tô ẩn giấu trong văn bản miêu tả; giải quyết bằng bộ trích xuất biểu thức chính quy tự động.</a:t>
            </a:r>
          </a:p>
          <a:p>
            <a:pPr>
              <a:spcAft>
                <a:spcPts val="800"/>
              </a:spcAft>
            </a:pPr>
            <a:r>
              <a:rPr sz="1200" b="1">
                <a:solidFill>
                  <a:srgbClr val="0F2942"/>
                </a:solidFill>
                <a:latin typeface="Arial"/>
              </a:rPr>
              <a:t>• Truy vết nguồn gốc và kiểm toán: </a:t>
            </a:r>
            <a:r>
              <a:rPr sz="1200" b="0">
                <a:solidFill>
                  <a:srgbClr val="0F172A"/>
                </a:solidFill>
                <a:latin typeface="Arial"/>
              </a:rPr>
              <a:t>Tin đăng phát sinh liên tục theo thời gian; hệ thống gắn siêu dữ liệu kiểm toán gồm thời điểm nạp, mã lô và phân mảnh nguồn.</a:t>
            </a:r>
          </a:p>
          <a:p>
            <a:pPr>
              <a:spcAft>
                <a:spcPts val="800"/>
              </a:spcAft>
            </a:pPr>
            <a:r>
              <a:rPr sz="1200" b="1">
                <a:solidFill>
                  <a:srgbClr val="0F2942"/>
                </a:solidFill>
                <a:latin typeface="Arial"/>
              </a:rPr>
              <a:t>• Giá trị ứng dụng thực tiễn: </a:t>
            </a:r>
            <a:r>
              <a:rPr sz="1200" b="0">
                <a:solidFill>
                  <a:srgbClr val="0F172A"/>
                </a:solidFill>
                <a:latin typeface="Arial"/>
              </a:rPr>
              <a:t>Xây dựng mô hình định giá tự động LightGBM và bảng điều khiển Streamlit tương tác 4 phân hệ hỗ trợ ra quyết định đầu tư.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2. Kiến Trúc Hồ Dữ Liệu Medallion 6 Tầng</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3 / 16</a:t>
            </a:r>
          </a:p>
        </p:txBody>
      </p:sp>
      <p:pic>
        <p:nvPicPr>
          <p:cNvPr id="4" name="Picture 3" descr="00_architecture_flowchart.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ĐẶC TẢ CÔNG NGHỆ 6 TẦNG:</a:t>
            </a:r>
          </a:p>
          <a:p>
            <a:pPr>
              <a:spcAft>
                <a:spcPts val="600"/>
              </a:spcAft>
            </a:pPr>
            <a:r>
              <a:rPr sz="1100" b="1">
                <a:solidFill>
                  <a:srgbClr val="0F2942"/>
                </a:solidFill>
                <a:latin typeface="Arial"/>
              </a:rPr>
              <a:t>• 1. Thu nạp thô: </a:t>
            </a:r>
            <a:r>
              <a:rPr sz="1100" b="0">
                <a:solidFill>
                  <a:srgbClr val="0F172A"/>
                </a:solidFill>
                <a:latin typeface="Arial"/>
              </a:rPr>
              <a:t>Nạp bất đồng bộ từ Hugging Face qua Polars và Arrow, gắn mã định danh lô và thời điểm nạp.</a:t>
            </a:r>
          </a:p>
          <a:p>
            <a:pPr>
              <a:spcAft>
                <a:spcPts val="600"/>
              </a:spcAft>
            </a:pPr>
            <a:r>
              <a:rPr sz="1100" b="1">
                <a:solidFill>
                  <a:srgbClr val="0F2942"/>
                </a:solidFill>
                <a:latin typeface="Arial"/>
              </a:rPr>
              <a:t>• 2. Tầng Đồng: </a:t>
            </a:r>
            <a:r>
              <a:rPr sz="1100" b="0">
                <a:solidFill>
                  <a:srgbClr val="0F172A"/>
                </a:solidFill>
                <a:latin typeface="Arial"/>
              </a:rPr>
              <a:t>Lưu trữ nguyên trạng bất biến định dạng Parquet Snappy (350,075 dòng, 153.9 MB).</a:t>
            </a:r>
          </a:p>
          <a:p>
            <a:pPr>
              <a:spcAft>
                <a:spcPts val="600"/>
              </a:spcAft>
            </a:pPr>
            <a:r>
              <a:rPr sz="1100" b="1">
                <a:solidFill>
                  <a:srgbClr val="0F2942"/>
                </a:solidFill>
                <a:latin typeface="Arial"/>
              </a:rPr>
              <a:t>• 3. Tầng Bạc: </a:t>
            </a:r>
            <a:r>
              <a:rPr sz="1100" b="0">
                <a:solidFill>
                  <a:srgbClr val="0F172A"/>
                </a:solidFill>
                <a:latin typeface="Arial"/>
              </a:rPr>
              <a:t>Làm sạch bằng PySpark, khử trùng lặp đa thuộc tính, chuẩn hóa kiểu dữ liệu số (307,457 dòng, 130.0 MB).</a:t>
            </a:r>
          </a:p>
          <a:p>
            <a:pPr>
              <a:spcAft>
                <a:spcPts val="600"/>
              </a:spcAft>
            </a:pPr>
            <a:r>
              <a:rPr sz="1100" b="1">
                <a:solidFill>
                  <a:srgbClr val="0F2942"/>
                </a:solidFill>
                <a:latin typeface="Arial"/>
              </a:rPr>
              <a:t>• 4. Tầng Vàng: </a:t>
            </a:r>
            <a:r>
              <a:rPr sz="1100" b="0">
                <a:solidFill>
                  <a:srgbClr val="0F172A"/>
                </a:solidFill>
                <a:latin typeface="Arial"/>
              </a:rPr>
              <a:t>Lọc ngoại lệ, trích xuất đặc trưng văn bản, biến đổi chuẩn hóa logarit (300,295 dòng, 128.2 MB).</a:t>
            </a:r>
          </a:p>
          <a:p>
            <a:pPr>
              <a:spcAft>
                <a:spcPts val="600"/>
              </a:spcAft>
            </a:pPr>
            <a:r>
              <a:rPr sz="1100" b="1">
                <a:solidFill>
                  <a:srgbClr val="0F2942"/>
                </a:solidFill>
                <a:latin typeface="Arial"/>
              </a:rPr>
              <a:t>• 5. CSDL Phục vụ: </a:t>
            </a:r>
            <a:r>
              <a:rPr sz="1100" b="0">
                <a:solidFill>
                  <a:srgbClr val="0F172A"/>
                </a:solidFill>
                <a:latin typeface="Arial"/>
              </a:rPr>
              <a:t>PostgreSQL và SQLite, đánh 4 chỉ mục B-Tree, nạp theo khối 10,000 dòng, dung lượng chỉ 17.4 MB.</a:t>
            </a:r>
          </a:p>
          <a:p>
            <a:pPr>
              <a:spcAft>
                <a:spcPts val="600"/>
              </a:spcAft>
            </a:pPr>
            <a:r>
              <a:rPr sz="1100" b="1">
                <a:solidFill>
                  <a:srgbClr val="0F2942"/>
                </a:solidFill>
                <a:latin typeface="Arial"/>
              </a:rPr>
              <a:t>• 6. Giao diện &amp; ML: </a:t>
            </a:r>
            <a:r>
              <a:rPr sz="1100" b="0">
                <a:solidFill>
                  <a:srgbClr val="0F172A"/>
                </a:solidFill>
                <a:latin typeface="Arial"/>
              </a:rPr>
              <a:t>Mô hình LightGBM định giá trực tuyến và Bảng điều khiển Streamlit 4 Tab tương tác.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3. Thuật Toán Khử Trùng Lặp &amp; Phễu Lưu Lượng Dữ Liệu</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4 / 16</a:t>
            </a:r>
          </a:p>
        </p:txBody>
      </p:sp>
      <p:pic>
        <p:nvPicPr>
          <p:cNvPr id="4" name="Picture 3" descr="01_pipeline_funnel_retention.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CƠ CHẾ KHỬ TRÙNG &amp; PHỄU LƯU LƯỢNG:</a:t>
            </a:r>
          </a:p>
          <a:p>
            <a:pPr>
              <a:spcAft>
                <a:spcPts val="600"/>
              </a:spcAft>
            </a:pPr>
            <a:r>
              <a:rPr sz="1100" b="1">
                <a:solidFill>
                  <a:srgbClr val="0F2942"/>
                </a:solidFill>
                <a:latin typeface="Arial"/>
              </a:rPr>
              <a:t>• Khóa băm tổ hợp đa thuộc tính: </a:t>
            </a:r>
            <a:r>
              <a:rPr sz="1100" b="0">
                <a:solidFill>
                  <a:srgbClr val="0F172A"/>
                </a:solidFill>
                <a:latin typeface="Arial"/>
              </a:rPr>
              <a:t>K_khử_trùng = Băm(chữ_thường(tiêu_đề) || tỉnh || huyện || xã || chuỗi_giá || diện_tích)</a:t>
            </a:r>
          </a:p>
          <a:p>
            <a:pPr>
              <a:spcAft>
                <a:spcPts val="600"/>
              </a:spcAft>
            </a:pPr>
            <a:r>
              <a:rPr sz="1100" b="1">
                <a:solidFill>
                  <a:srgbClr val="0F2942"/>
                </a:solidFill>
                <a:latin typeface="Arial"/>
              </a:rPr>
              <a:t>• Khử chính xác 29,686 trùng lặp: </a:t>
            </a:r>
            <a:r>
              <a:rPr sz="1100" b="0">
                <a:solidFill>
                  <a:srgbClr val="0F172A"/>
                </a:solidFill>
                <a:latin typeface="Arial"/>
              </a:rPr>
              <a:t>Chiếm 8.48% dữ liệu thô, giải quyết triệt để tình trạng một căn nhà được nhiều môi giới spam.</a:t>
            </a:r>
          </a:p>
          <a:p>
            <a:pPr>
              <a:spcAft>
                <a:spcPts val="600"/>
              </a:spcAft>
            </a:pPr>
            <a:r>
              <a:rPr sz="1100" b="1">
                <a:solidFill>
                  <a:srgbClr val="0F2942"/>
                </a:solidFill>
                <a:latin typeface="Arial"/>
              </a:rPr>
              <a:t>• Lọc 12,932 tin thiếu giá / diện tích: </a:t>
            </a:r>
            <a:r>
              <a:rPr sz="1100" b="0">
                <a:solidFill>
                  <a:srgbClr val="0F172A"/>
                </a:solidFill>
                <a:latin typeface="Arial"/>
              </a:rPr>
              <a:t>Loại bỏ các tin thỏa thuận, thương lượng, giá âm hoặc diện tích rỗng không thể khôi phục.</a:t>
            </a:r>
          </a:p>
          <a:p>
            <a:pPr>
              <a:spcAft>
                <a:spcPts val="600"/>
              </a:spcAft>
            </a:pPr>
            <a:r>
              <a:rPr sz="1100" b="1">
                <a:solidFill>
                  <a:srgbClr val="0F2942"/>
                </a:solidFill>
                <a:latin typeface="Arial"/>
              </a:rPr>
              <a:t>• Tỷ lệ giữ lại Tầng Bạc: </a:t>
            </a:r>
            <a:r>
              <a:rPr sz="1100" b="0">
                <a:solidFill>
                  <a:srgbClr val="0F172A"/>
                </a:solidFill>
                <a:latin typeface="Arial"/>
              </a:rPr>
              <a:t>307,457 bản ghi sạch (đạt 87.83% so với Tầng Đồng ban đầu).</a:t>
            </a:r>
          </a:p>
          <a:p>
            <a:pPr>
              <a:spcAft>
                <a:spcPts val="600"/>
              </a:spcAft>
            </a:pPr>
            <a:r>
              <a:rPr sz="1100" b="1">
                <a:solidFill>
                  <a:srgbClr val="0F2942"/>
                </a:solidFill>
                <a:latin typeface="Arial"/>
              </a:rPr>
              <a:t>• Tỷ lệ toàn trình: </a:t>
            </a:r>
            <a:r>
              <a:rPr sz="1100" b="0">
                <a:solidFill>
                  <a:srgbClr val="0F172A"/>
                </a:solidFill>
                <a:latin typeface="Arial"/>
              </a:rPr>
              <a:t>Toàn bộ pipeline giữ lại 85.78% dữ liệu chuẩn mực, vượt xa tiêu chuẩn nghiệm thu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4. Kiểm Toán Chất Lượng &amp; Xử Lý Giá Trị Khuyết Thiếu</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5 / 16</a:t>
            </a:r>
          </a:p>
        </p:txBody>
      </p:sp>
      <p:pic>
        <p:nvPicPr>
          <p:cNvPr id="4" name="Picture 3" descr="02_data_quality_missing_analysis.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CHIẾN LƯỢC XỬ LÝ 3 NHÓM THUỘC TÍNH:</a:t>
            </a:r>
          </a:p>
          <a:p>
            <a:pPr>
              <a:spcAft>
                <a:spcPts val="600"/>
              </a:spcAft>
            </a:pPr>
            <a:r>
              <a:rPr sz="1100" b="1">
                <a:solidFill>
                  <a:srgbClr val="0F2942"/>
                </a:solidFill>
                <a:latin typeface="Arial"/>
              </a:rPr>
              <a:t>• Nhóm sạch (&lt; 5% khuyết): </a:t>
            </a:r>
            <a:r>
              <a:rPr sz="1100" b="0">
                <a:solidFill>
                  <a:srgbClr val="0F172A"/>
                </a:solidFill>
                <a:latin typeface="Arial"/>
              </a:rPr>
              <a:t>Tiêu đề (0%), mô tả (0%), tỉnh thành (0%), quận huyện (1.75%), giá bán (0%), diện tích (0%). Giữ nguyên vẹn, điền 'Không rõ' cho quận huyện thiếu.</a:t>
            </a:r>
          </a:p>
          <a:p>
            <a:pPr>
              <a:spcAft>
                <a:spcPts val="600"/>
              </a:spcAft>
            </a:pPr>
            <a:r>
              <a:rPr sz="1100" b="1">
                <a:solidFill>
                  <a:srgbClr val="0F2942"/>
                </a:solidFill>
                <a:latin typeface="Arial"/>
              </a:rPr>
              <a:t>• Nhóm khuyết vừa (5% - 50%): </a:t>
            </a:r>
            <a:r>
              <a:rPr sz="1100" b="0">
                <a:solidFill>
                  <a:srgbClr val="0F172A"/>
                </a:solidFill>
                <a:latin typeface="Arial"/>
              </a:rPr>
              <a:t>Phường xã (14.4%), tên đường (40.4%), số phòng ngủ (24.8%), hướng nhà (46.8%). Điền 'Không rõ' cho phân loại và giá trị trung vị theo quận cho số phòng ngủ.</a:t>
            </a:r>
          </a:p>
          <a:p>
            <a:pPr>
              <a:spcAft>
                <a:spcPts val="600"/>
              </a:spcAft>
            </a:pPr>
            <a:r>
              <a:rPr sz="1100" b="1">
                <a:solidFill>
                  <a:srgbClr val="0F2942"/>
                </a:solidFill>
                <a:latin typeface="Arial"/>
              </a:rPr>
              <a:t>• Nhóm khuyết cao (&gt; 50%): </a:t>
            </a:r>
            <a:r>
              <a:rPr sz="1100" b="0">
                <a:solidFill>
                  <a:srgbClr val="0F172A"/>
                </a:solidFill>
                <a:latin typeface="Arial"/>
              </a:rPr>
              <a:t>Tên dự án (86.1%), mặt tiền (64.2%), độ rộng đường (61.5%).</a:t>
            </a:r>
          </a:p>
          <a:p>
            <a:pPr>
              <a:spcAft>
                <a:spcPts val="600"/>
              </a:spcAft>
            </a:pPr>
            <a:r>
              <a:rPr sz="1100" b="1">
                <a:solidFill>
                  <a:srgbClr val="0F2942"/>
                </a:solidFill>
                <a:latin typeface="Arial"/>
              </a:rPr>
              <a:t>• Nguyên tắc nghiệp vụ: </a:t>
            </a:r>
            <a:r>
              <a:rPr sz="1100" b="0">
                <a:solidFill>
                  <a:srgbClr val="0F172A"/>
                </a:solidFill>
                <a:latin typeface="Arial"/>
              </a:rPr>
              <a:t>TUYỆT ĐỐI KHÔNG XÓA CỘT khuyết cao vì khi có dữ liệu (ví dụ nhà mặt phố), giá trị kinh tế tăng vọt. Áp dụng kỹ thuật điền khuyết riêng biệt và nhị phân hóa cờ đặc trưng.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5. Thuật Toán Lọc Ngoại Lệ Thống Kê Kháng Nhiễu</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6 / 16</a:t>
            </a:r>
          </a:p>
        </p:txBody>
      </p:sp>
      <p:pic>
        <p:nvPicPr>
          <p:cNvPr id="4" name="Picture 3" descr="03_distribution_outlier_analysis.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50" b="1">
                <a:solidFill>
                  <a:srgbClr val="0F2942"/>
                </a:solidFill>
                <a:latin typeface="Arial"/>
              </a:defRPr>
            </a:pPr>
            <a:r>
              <a:t>ĐỐI CHIẾU SỐ LIỆU TRƯỚC (BẠC) VS SAU (VÀNG):</a:t>
            </a:r>
          </a:p>
          <a:p>
            <a:pPr>
              <a:spcAft>
                <a:spcPts val="500"/>
              </a:spcAft>
            </a:pPr>
            <a:r>
              <a:rPr sz="1050" b="1">
                <a:solidFill>
                  <a:srgbClr val="0F2942"/>
                </a:solidFill>
                <a:latin typeface="Arial"/>
              </a:rPr>
              <a:t>• Loại bỏ 7,162 ngoại lệ (2.33%): </a:t>
            </a:r>
            <a:r>
              <a:rPr sz="1050" b="0">
                <a:solidFill>
                  <a:srgbClr val="0F172A"/>
                </a:solidFill>
                <a:latin typeface="Arial"/>
              </a:rPr>
              <a:t>Kết hợp biên nghiệp vụ [0.1 - 500 tỷ, 10 - 5000 m²] với phân vị khoảng liên tứ phân vị trên thang logarit.</a:t>
            </a:r>
          </a:p>
          <a:p>
            <a:pPr>
              <a:spcAft>
                <a:spcPts val="500"/>
              </a:spcAft>
            </a:pPr>
            <a:r>
              <a:rPr sz="1050" b="1">
                <a:solidFill>
                  <a:srgbClr val="0F2942"/>
                </a:solidFill>
                <a:latin typeface="Arial"/>
              </a:rPr>
              <a:t>• Độ lệch chuẩn Giá bán: </a:t>
            </a:r>
            <a:r>
              <a:rPr sz="1050" b="0">
                <a:solidFill>
                  <a:srgbClr val="0F172A"/>
                </a:solidFill>
                <a:latin typeface="Arial"/>
              </a:rPr>
              <a:t>Từ 2,006.6 Tỷ GIẢM 77 LẦN còn 25.98 Tỷ VNĐ (Triệt tiêu tin ảo 881,020 tỷ).</a:t>
            </a:r>
          </a:p>
          <a:p>
            <a:pPr>
              <a:spcAft>
                <a:spcPts val="500"/>
              </a:spcAft>
            </a:pPr>
            <a:r>
              <a:rPr sz="1050" b="1">
                <a:solidFill>
                  <a:srgbClr val="0F2942"/>
                </a:solidFill>
                <a:latin typeface="Arial"/>
              </a:rPr>
              <a:t>• TRUNG VỊ GIÁ BẢO TOÀN: </a:t>
            </a:r>
            <a:r>
              <a:rPr sz="1050" b="0">
                <a:solidFill>
                  <a:srgbClr val="0F172A"/>
                </a:solidFill>
                <a:latin typeface="Arial"/>
              </a:rPr>
              <a:t>7.2 Tỷ ở Tầng Bạc -&gt; 7.3 Tỷ ở Tầng Vàng. Không làm méo mó bản chất thị trường!</a:t>
            </a:r>
          </a:p>
          <a:p>
            <a:pPr>
              <a:spcAft>
                <a:spcPts val="500"/>
              </a:spcAft>
            </a:pPr>
            <a:r>
              <a:rPr sz="1050" b="1">
                <a:solidFill>
                  <a:srgbClr val="0F2942"/>
                </a:solidFill>
                <a:latin typeface="Arial"/>
              </a:rPr>
              <a:t>• Độ lệch chuẩn Diện tích: </a:t>
            </a:r>
            <a:r>
              <a:rPr sz="1050" b="0">
                <a:solidFill>
                  <a:srgbClr val="0F172A"/>
                </a:solidFill>
                <a:latin typeface="Arial"/>
              </a:rPr>
              <a:t>Từ 51,332 m² GIẢM 208 LẦN còn 246.5 m² (Triệt tiêu diện tích ảo 24 triệu m²).</a:t>
            </a:r>
          </a:p>
          <a:p>
            <a:pPr>
              <a:spcAft>
                <a:spcPts val="500"/>
              </a:spcAft>
            </a:pPr>
            <a:r>
              <a:rPr sz="1050" b="1">
                <a:solidFill>
                  <a:srgbClr val="0F2942"/>
                </a:solidFill>
                <a:latin typeface="Arial"/>
              </a:rPr>
              <a:t>• TRUNG VỊ DIỆN TÍCH: </a:t>
            </a:r>
            <a:r>
              <a:rPr sz="1050" b="0">
                <a:solidFill>
                  <a:srgbClr val="0F172A"/>
                </a:solidFill>
                <a:latin typeface="Arial"/>
              </a:rPr>
              <a:t>Giữ nguyên vẹn 100% tại 80.0 m².</a:t>
            </a:r>
          </a:p>
          <a:p>
            <a:pPr>
              <a:spcAft>
                <a:spcPts val="500"/>
              </a:spcAft>
            </a:pPr>
            <a:r>
              <a:rPr sz="1050" b="1">
                <a:solidFill>
                  <a:srgbClr val="0F2942"/>
                </a:solidFill>
                <a:latin typeface="Arial"/>
              </a:rPr>
              <a:t>• Độ lệch chuẩn Đơn giá: </a:t>
            </a:r>
            <a:r>
              <a:rPr sz="1050" b="0">
                <a:solidFill>
                  <a:srgbClr val="0F172A"/>
                </a:solidFill>
                <a:latin typeface="Arial"/>
              </a:rPr>
              <a:t>Từ 48,836 Tr/m² GIẢM 385 LẦN còn 126.8 Tr/m².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6. Toàn Cảnh Thị Trường Bất Động Sản</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7 / 16</a:t>
            </a:r>
          </a:p>
        </p:txBody>
      </p:sp>
      <p:pic>
        <p:nvPicPr>
          <p:cNvPr id="4" name="Picture 3" descr="04_market_distribution.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PHÂN TÍCH KHÁM PHÁ THỊ TRƯỜNG:</a:t>
            </a:r>
          </a:p>
          <a:p>
            <a:pPr>
              <a:spcAft>
                <a:spcPts val="600"/>
              </a:spcAft>
            </a:pPr>
            <a:r>
              <a:rPr sz="1100" b="1">
                <a:solidFill>
                  <a:srgbClr val="0F2942"/>
                </a:solidFill>
                <a:latin typeface="Arial"/>
              </a:rPr>
              <a:t>• Hà Nội dẫn đầu giá trung vị: </a:t>
            </a:r>
            <a:r>
              <a:rPr sz="1100" b="0">
                <a:solidFill>
                  <a:srgbClr val="0F172A"/>
                </a:solidFill>
                <a:latin typeface="Arial"/>
              </a:rPr>
              <a:t>8.90 Tỷ VNĐ (104.8k tin), đơn giá trung vị 148.5 Tr/m², giao dịch sôi động nhà ngõ &amp; mặt phố.</a:t>
            </a:r>
          </a:p>
          <a:p>
            <a:pPr>
              <a:spcAft>
                <a:spcPts val="600"/>
              </a:spcAft>
            </a:pPr>
            <a:r>
              <a:rPr sz="1100" b="1">
                <a:solidFill>
                  <a:srgbClr val="0F2942"/>
                </a:solidFill>
                <a:latin typeface="Arial"/>
              </a:rPr>
              <a:t>• TP. Hồ Chí Minh bám sát: </a:t>
            </a:r>
            <a:r>
              <a:rPr sz="1100" b="0">
                <a:solidFill>
                  <a:srgbClr val="0F172A"/>
                </a:solidFill>
                <a:latin typeface="Arial"/>
              </a:rPr>
              <a:t>8.50 Tỷ VNĐ (105.7k tin), đơn giá trung vị 135.2 Tr/m², biên độ phân hóa lớn giữa trung tâm và vùng ven.</a:t>
            </a:r>
          </a:p>
          <a:p>
            <a:pPr>
              <a:spcAft>
                <a:spcPts val="600"/>
              </a:spcAft>
            </a:pPr>
            <a:r>
              <a:rPr sz="1100" b="1">
                <a:solidFill>
                  <a:srgbClr val="0F2942"/>
                </a:solidFill>
                <a:latin typeface="Arial"/>
              </a:rPr>
              <a:t>• Đà Nẵng &amp; Bình Dương: </a:t>
            </a:r>
            <a:r>
              <a:rPr sz="1100" b="0">
                <a:solidFill>
                  <a:srgbClr val="0F172A"/>
                </a:solidFill>
                <a:latin typeface="Arial"/>
              </a:rPr>
              <a:t>Đà Nẵng trung vị 7.57 Tỷ (thị trường ven biển); Bình Dương trung vị 2.91 Tỷ (nhà ở công nghiệp/chuyên gia).</a:t>
            </a:r>
          </a:p>
          <a:p>
            <a:pPr>
              <a:spcAft>
                <a:spcPts val="600"/>
              </a:spcAft>
            </a:pPr>
            <a:r>
              <a:rPr sz="1100" b="1">
                <a:solidFill>
                  <a:srgbClr val="0F2942"/>
                </a:solidFill>
                <a:latin typeface="Arial"/>
              </a:rPr>
              <a:t>• Cơ cấu theo loại hình: </a:t>
            </a:r>
            <a:r>
              <a:rPr sz="1100" b="0">
                <a:solidFill>
                  <a:srgbClr val="0F172A"/>
                </a:solidFill>
                <a:latin typeface="Arial"/>
              </a:rPr>
              <a:t>Nhà mặt phố &amp; Biệt thự liền kề có giá trị trung vị cao nhất, tiếp theo là Nhà riêng và Căn hộ chung cư.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7. Kỹ Thuật Đặc Trưng Văn Bản &amp; Chuẩn Hóa Logarit</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8 / 16</a:t>
            </a:r>
          </a:p>
        </p:txBody>
      </p:sp>
      <p:pic>
        <p:nvPicPr>
          <p:cNvPr id="4" name="Picture 3" descr="eda_price_distribution.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TRÍCH XUẤT ĐẶC TRƯNG &amp; CHUẨN HÓA:</a:t>
            </a:r>
          </a:p>
          <a:p>
            <a:pPr>
              <a:spcAft>
                <a:spcPts val="600"/>
              </a:spcAft>
            </a:pPr>
            <a:r>
              <a:rPr sz="1100" b="1">
                <a:solidFill>
                  <a:srgbClr val="0F2942"/>
                </a:solidFill>
                <a:latin typeface="Arial"/>
              </a:rPr>
              <a:t>• Cờ pháp lý sổ đỏ/hồng: </a:t>
            </a:r>
            <a:r>
              <a:rPr sz="1100" b="0">
                <a:solidFill>
                  <a:srgbClr val="0F172A"/>
                </a:solidFill>
                <a:latin typeface="Arial"/>
              </a:rPr>
              <a:t>Nhận diện từ khóa 'sổ đỏ', 'sổ hồng', 'chính chủ', 'pháp lý chuẩn'. Đẩy thanh khoản và giá nhà tăng rõ rệt.</a:t>
            </a:r>
          </a:p>
          <a:p>
            <a:pPr>
              <a:spcAft>
                <a:spcPts val="600"/>
              </a:spcAft>
            </a:pPr>
            <a:r>
              <a:rPr sz="1100" b="1">
                <a:solidFill>
                  <a:srgbClr val="0F2942"/>
                </a:solidFill>
                <a:latin typeface="Arial"/>
              </a:rPr>
              <a:t>• Cờ vị trí mặt phố và ngõ hẻm: </a:t>
            </a:r>
            <a:r>
              <a:rPr sz="1100" b="0">
                <a:solidFill>
                  <a:srgbClr val="0F172A"/>
                </a:solidFill>
                <a:latin typeface="Arial"/>
              </a:rPr>
              <a:t>Nhận diện 'mặt phố', 'kinh doanh' so với 'ngõ hẻm', 'ba gác'. Mặt phố có đơn giá gấp 2-3 lần nhà ngõ.</a:t>
            </a:r>
          </a:p>
          <a:p>
            <a:pPr>
              <a:spcAft>
                <a:spcPts val="600"/>
              </a:spcAft>
            </a:pPr>
            <a:r>
              <a:rPr sz="1100" b="1">
                <a:solidFill>
                  <a:srgbClr val="0F2942"/>
                </a:solidFill>
                <a:latin typeface="Arial"/>
              </a:rPr>
              <a:t>• Cờ tiện nghi nội thất và ô tô: </a:t>
            </a:r>
            <a:r>
              <a:rPr sz="1100" b="0">
                <a:solidFill>
                  <a:srgbClr val="0F172A"/>
                </a:solidFill>
                <a:latin typeface="Arial"/>
              </a:rPr>
              <a:t>Nhận diện 'full nội thất', 'ô tô đỗ cửa', 'gara ô tô'.</a:t>
            </a:r>
          </a:p>
          <a:p>
            <a:pPr>
              <a:spcAft>
                <a:spcPts val="600"/>
              </a:spcAft>
            </a:pPr>
            <a:r>
              <a:rPr sz="1100" b="1">
                <a:solidFill>
                  <a:srgbClr val="0F2942"/>
                </a:solidFill>
                <a:latin typeface="Arial"/>
              </a:rPr>
              <a:t>• Biến đổi logarit tự nhiên: </a:t>
            </a:r>
            <a:r>
              <a:rPr sz="1100" b="0">
                <a:solidFill>
                  <a:srgbClr val="0F172A"/>
                </a:solidFill>
                <a:latin typeface="Arial"/>
              </a:rPr>
              <a:t>Kéo hệ số bất đối xứng từ 6.70 xuống 0.24 (gần chuẩn đối xứng), giúp hàm mục tiêu hội tụ tối ưu.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8. Giao Thức Phân Chia Ba Tập Dữ Liệu Chống Rò Rỉ</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9 / 16</a:t>
            </a:r>
          </a:p>
        </p:txBody>
      </p:sp>
      <p:sp>
        <p:nvSpPr>
          <p:cNvPr id="4" name="Rounded Rectangle 3"/>
          <p:cNvSpPr/>
          <p:nvPr/>
        </p:nvSpPr>
        <p:spPr>
          <a:xfrm>
            <a:off x="731520" y="1371600"/>
            <a:ext cx="33832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100" b="1">
                <a:solidFill>
                  <a:srgbClr val="0F2942"/>
                </a:solidFill>
                <a:latin typeface="Arial"/>
              </a:defRPr>
            </a:pPr>
            <a:r>
              <a:t>TẬP HUẤN LUYỆN</a:t>
            </a:r>
          </a:p>
          <a:p>
            <a:pPr>
              <a:defRPr sz="3600" b="1">
                <a:solidFill>
                  <a:srgbClr val="1E40AF"/>
                </a:solidFill>
                <a:latin typeface="Arial"/>
              </a:defRPr>
            </a:pPr>
            <a:r>
              <a:t>70%</a:t>
            </a:r>
          </a:p>
          <a:p>
            <a:pPr>
              <a:spcAft>
                <a:spcPts val="1600"/>
              </a:spcAft>
              <a:defRPr sz="1400" b="1">
                <a:solidFill>
                  <a:srgbClr val="F58220"/>
                </a:solidFill>
                <a:latin typeface="Arial"/>
              </a:defRPr>
            </a:pPr>
            <a:r>
              <a:t>210,206 mẫu</a:t>
            </a:r>
          </a:p>
          <a:p>
            <a:pPr>
              <a:defRPr sz="1150">
                <a:solidFill>
                  <a:srgbClr val="0F172A"/>
                </a:solidFill>
                <a:latin typeface="Arial"/>
              </a:defRPr>
            </a:pPr>
            <a:r>
              <a:t>Toàn bộ tiền xử lý phân loại, điền khuyết, chuẩn hóa CHỈ ĐƯỢC HỌC trên tập dữ liệu này. Tuyệt đối không nhìn trước dữ liệu kiểm thử.</a:t>
            </a:r>
          </a:p>
        </p:txBody>
      </p:sp>
      <p:sp>
        <p:nvSpPr>
          <p:cNvPr id="5" name="Rounded Rectangle 4"/>
          <p:cNvSpPr/>
          <p:nvPr/>
        </p:nvSpPr>
        <p:spPr>
          <a:xfrm>
            <a:off x="4389120" y="1371600"/>
            <a:ext cx="33832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100" b="1">
                <a:solidFill>
                  <a:srgbClr val="0F2942"/>
                </a:solidFill>
                <a:latin typeface="Arial"/>
              </a:defRPr>
            </a:pPr>
            <a:r>
              <a:t>TẬP KIỂM ĐỊNH</a:t>
            </a:r>
          </a:p>
          <a:p>
            <a:pPr>
              <a:defRPr sz="3600" b="1">
                <a:solidFill>
                  <a:srgbClr val="1E40AF"/>
                </a:solidFill>
                <a:latin typeface="Arial"/>
              </a:defRPr>
            </a:pPr>
            <a:r>
              <a:t>15%</a:t>
            </a:r>
          </a:p>
          <a:p>
            <a:pPr>
              <a:spcAft>
                <a:spcPts val="1600"/>
              </a:spcAft>
              <a:defRPr sz="1400" b="1">
                <a:solidFill>
                  <a:srgbClr val="F58220"/>
                </a:solidFill>
                <a:latin typeface="Arial"/>
              </a:defRPr>
            </a:pPr>
            <a:r>
              <a:t>45,044 mẫu</a:t>
            </a:r>
          </a:p>
          <a:p>
            <a:pPr>
              <a:defRPr sz="1150">
                <a:solidFill>
                  <a:srgbClr val="0F172A"/>
                </a:solidFill>
                <a:latin typeface="Arial"/>
              </a:defRPr>
            </a:pPr>
            <a:r>
              <a:t>Sử dụng độc quyền để điều chỉnh siêu tham số và kích hoạt cơ chế dừng sớm chống quá khớp.</a:t>
            </a:r>
          </a:p>
        </p:txBody>
      </p:sp>
      <p:sp>
        <p:nvSpPr>
          <p:cNvPr id="6" name="Rounded Rectangle 5"/>
          <p:cNvSpPr/>
          <p:nvPr/>
        </p:nvSpPr>
        <p:spPr>
          <a:xfrm>
            <a:off x="8046720" y="1371600"/>
            <a:ext cx="33832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100" b="1">
                <a:solidFill>
                  <a:srgbClr val="0F2942"/>
                </a:solidFill>
                <a:latin typeface="Arial"/>
              </a:defRPr>
            </a:pPr>
            <a:r>
              <a:t>TẬP KIỂM THỬ ĐỘC LẬP</a:t>
            </a:r>
          </a:p>
          <a:p>
            <a:pPr>
              <a:defRPr sz="3600" b="1">
                <a:solidFill>
                  <a:srgbClr val="1E40AF"/>
                </a:solidFill>
                <a:latin typeface="Arial"/>
              </a:defRPr>
            </a:pPr>
            <a:r>
              <a:t>15%</a:t>
            </a:r>
          </a:p>
          <a:p>
            <a:pPr>
              <a:spcAft>
                <a:spcPts val="1600"/>
              </a:spcAft>
              <a:defRPr sz="1400" b="1">
                <a:solidFill>
                  <a:srgbClr val="F58220"/>
                </a:solidFill>
                <a:latin typeface="Arial"/>
              </a:defRPr>
            </a:pPr>
            <a:r>
              <a:t>45,045 mẫu</a:t>
            </a:r>
          </a:p>
          <a:p>
            <a:pPr>
              <a:defRPr sz="1150">
                <a:solidFill>
                  <a:srgbClr val="0F172A"/>
                </a:solidFill>
                <a:latin typeface="Arial"/>
              </a:defRPr>
            </a:pPr>
            <a:r>
              <a:t>Được giữ bí mật tuyệt đối trong quá trình huấn luyện; CHỈ ĐƯỢC CHẤM ĐIỂM ĐÚNG 1 LẦN DUY NHẤT để đánh giá năng lực tổng quát hóa.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9. Thuật Toán Học Máy: Hồi Quy Ridge Cơ Sở vs LightGBM</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10 / 16</a:t>
            </a:r>
          </a:p>
        </p:txBody>
      </p:sp>
      <p:graphicFrame>
        <p:nvGraphicFramePr>
          <p:cNvPr id="4" name="Table 3"/>
          <p:cNvGraphicFramePr>
            <a:graphicFrameLocks noGrp="1"/>
          </p:cNvGraphicFramePr>
          <p:nvPr/>
        </p:nvGraphicFramePr>
        <p:xfrm>
          <a:off x="731520" y="1371600"/>
          <a:ext cx="10698480" cy="4572000"/>
        </p:xfrm>
        <a:graphic>
          <a:graphicData uri="http://schemas.openxmlformats.org/drawingml/2006/table">
            <a:tbl>
              <a:tblPr firstRow="1" bandRow="1">
                <a:tableStyleId>{5C22544A-7EE6-4342-B048-85BDC9FD1C3A}</a:tableStyleId>
              </a:tblPr>
              <a:tblGrid>
                <a:gridCol w="2926080"/>
                <a:gridCol w="2377440"/>
                <a:gridCol w="2377440"/>
                <a:gridCol w="3017520"/>
              </a:tblGrid>
              <a:tr h="653142">
                <a:tc>
                  <a:txBody>
                    <a:bodyPr/>
                    <a:lstStyle/>
                    <a:p>
                      <a:pPr algn="ctr">
                        <a:defRPr sz="1150" b="1">
                          <a:solidFill>
                            <a:srgbClr val="FFFFFF"/>
                          </a:solidFill>
                          <a:latin typeface="Arial"/>
                        </a:defRPr>
                      </a:pPr>
                      <a:r>
                        <a:t>Chỉ Số Đánh Giá</a:t>
                      </a:r>
                    </a:p>
                  </a:txBody>
                  <a:tcPr>
                    <a:solidFill>
                      <a:srgbClr val="0F2942"/>
                    </a:solidFill>
                  </a:tcPr>
                </a:tc>
                <a:tc>
                  <a:txBody>
                    <a:bodyPr/>
                    <a:lstStyle/>
                    <a:p>
                      <a:pPr algn="ctr">
                        <a:defRPr sz="1150" b="1">
                          <a:solidFill>
                            <a:srgbClr val="FFFFFF"/>
                          </a:solidFill>
                          <a:latin typeface="Arial"/>
                        </a:defRPr>
                      </a:pPr>
                      <a:r>
                        <a:t>Hồi Quy Ridge Cơ Sở</a:t>
                      </a:r>
                    </a:p>
                  </a:txBody>
                  <a:tcPr>
                    <a:solidFill>
                      <a:srgbClr val="0F2942"/>
                    </a:solidFill>
                  </a:tcPr>
                </a:tc>
                <a:tc>
                  <a:txBody>
                    <a:bodyPr/>
                    <a:lstStyle/>
                    <a:p>
                      <a:pPr algn="ctr">
                        <a:defRPr sz="1150" b="1">
                          <a:solidFill>
                            <a:srgbClr val="FFFFFF"/>
                          </a:solidFill>
                          <a:latin typeface="Arial"/>
                        </a:defRPr>
                      </a:pPr>
                      <a:r>
                        <a:t>Mô Hình LightGBM</a:t>
                      </a:r>
                    </a:p>
                  </a:txBody>
                  <a:tcPr>
                    <a:solidFill>
                      <a:srgbClr val="0F2942"/>
                    </a:solidFill>
                  </a:tcPr>
                </a:tc>
                <a:tc>
                  <a:txBody>
                    <a:bodyPr/>
                    <a:lstStyle/>
                    <a:p>
                      <a:pPr algn="ctr">
                        <a:defRPr sz="1150" b="1">
                          <a:solidFill>
                            <a:srgbClr val="FFFFFF"/>
                          </a:solidFill>
                          <a:latin typeface="Arial"/>
                        </a:defRPr>
                      </a:pPr>
                      <a:r>
                        <a:t>Mức Độ Cải Thiện Vượt Trội</a:t>
                      </a:r>
                    </a:p>
                  </a:txBody>
                  <a:tcPr>
                    <a:solidFill>
                      <a:srgbClr val="0F2942"/>
                    </a:solidFill>
                  </a:tcPr>
                </a:tc>
              </a:tr>
              <a:tr h="653142">
                <a:tc>
                  <a:txBody>
                    <a:bodyPr/>
                    <a:lstStyle/>
                    <a:p>
                      <a:pPr>
                        <a:defRPr sz="1100">
                          <a:solidFill>
                            <a:srgbClr val="0F172A"/>
                          </a:solidFill>
                          <a:latin typeface="Arial"/>
                        </a:defRPr>
                      </a:pPr>
                      <a:r>
                        <a:t>Hệ số xác định R² trên thang logarit</a:t>
                      </a:r>
                    </a:p>
                  </a:txBody>
                  <a:tcPr>
                    <a:solidFill>
                      <a:srgbClr val="FFFFFF"/>
                    </a:solidFill>
                  </a:tcPr>
                </a:tc>
                <a:tc>
                  <a:txBody>
                    <a:bodyPr/>
                    <a:lstStyle/>
                    <a:p>
                      <a:pPr algn="r">
                        <a:defRPr sz="1100">
                          <a:solidFill>
                            <a:srgbClr val="0F172A"/>
                          </a:solidFill>
                          <a:latin typeface="Arial"/>
                        </a:defRPr>
                      </a:pPr>
                      <a:r>
                        <a:t>0.6266 (62.7%)</a:t>
                      </a:r>
                    </a:p>
                  </a:txBody>
                  <a:tcPr>
                    <a:solidFill>
                      <a:srgbClr val="FFFFFF"/>
                    </a:solidFill>
                  </a:tcPr>
                </a:tc>
                <a:tc>
                  <a:txBody>
                    <a:bodyPr/>
                    <a:lstStyle/>
                    <a:p>
                      <a:pPr algn="r">
                        <a:defRPr sz="1100">
                          <a:solidFill>
                            <a:srgbClr val="0F172A"/>
                          </a:solidFill>
                          <a:latin typeface="Arial"/>
                        </a:defRPr>
                      </a:pPr>
                      <a:r>
                        <a:t>0.8537 (85.4%)</a:t>
                      </a:r>
                    </a:p>
                  </a:txBody>
                  <a:tcPr>
                    <a:solidFill>
                      <a:srgbClr val="FFFFFF"/>
                    </a:solidFill>
                  </a:tcPr>
                </a:tc>
                <a:tc>
                  <a:txBody>
                    <a:bodyPr/>
                    <a:lstStyle/>
                    <a:p>
                      <a:pPr>
                        <a:defRPr sz="1100" b="1">
                          <a:solidFill>
                            <a:srgbClr val="1E40AF"/>
                          </a:solidFill>
                          <a:latin typeface="Arial"/>
                        </a:defRPr>
                      </a:pPr>
                      <a:r>
                        <a:t>TĂNG +36.2% (Giải thích 85.4% phương sai)</a:t>
                      </a:r>
                    </a:p>
                  </a:txBody>
                  <a:tcPr>
                    <a:solidFill>
                      <a:srgbClr val="FFFFFF"/>
                    </a:solidFill>
                  </a:tcPr>
                </a:tc>
              </a:tr>
              <a:tr h="653142">
                <a:tc>
                  <a:txBody>
                    <a:bodyPr/>
                    <a:lstStyle/>
                    <a:p>
                      <a:pPr>
                        <a:defRPr sz="1100">
                          <a:solidFill>
                            <a:srgbClr val="0F172A"/>
                          </a:solidFill>
                          <a:latin typeface="Arial"/>
                        </a:defRPr>
                      </a:pPr>
                      <a:r>
                        <a:t>Sai số căn quân phương RMSE trên thang logarit</a:t>
                      </a:r>
                    </a:p>
                  </a:txBody>
                  <a:tcPr>
                    <a:solidFill>
                      <a:srgbClr val="F8FAFC"/>
                    </a:solidFill>
                  </a:tcPr>
                </a:tc>
                <a:tc>
                  <a:txBody>
                    <a:bodyPr/>
                    <a:lstStyle/>
                    <a:p>
                      <a:pPr algn="r">
                        <a:defRPr sz="1100">
                          <a:solidFill>
                            <a:srgbClr val="0F172A"/>
                          </a:solidFill>
                          <a:latin typeface="Arial"/>
                        </a:defRPr>
                      </a:pPr>
                      <a:r>
                        <a:t>0.6556</a:t>
                      </a:r>
                    </a:p>
                  </a:txBody>
                  <a:tcPr>
                    <a:solidFill>
                      <a:srgbClr val="F8FAFC"/>
                    </a:solidFill>
                  </a:tcPr>
                </a:tc>
                <a:tc>
                  <a:txBody>
                    <a:bodyPr/>
                    <a:lstStyle/>
                    <a:p>
                      <a:pPr algn="r">
                        <a:defRPr sz="1100">
                          <a:solidFill>
                            <a:srgbClr val="0F172A"/>
                          </a:solidFill>
                          <a:latin typeface="Arial"/>
                        </a:defRPr>
                      </a:pPr>
                      <a:r>
                        <a:t>0.4104</a:t>
                      </a:r>
                    </a:p>
                  </a:txBody>
                  <a:tcPr>
                    <a:solidFill>
                      <a:srgbClr val="F8FAFC"/>
                    </a:solidFill>
                  </a:tcPr>
                </a:tc>
                <a:tc>
                  <a:txBody>
                    <a:bodyPr/>
                    <a:lstStyle/>
                    <a:p>
                      <a:pPr>
                        <a:defRPr sz="1100" b="1">
                          <a:solidFill>
                            <a:srgbClr val="1E40AF"/>
                          </a:solidFill>
                          <a:latin typeface="Arial"/>
                        </a:defRPr>
                      </a:pPr>
                      <a:r>
                        <a:t>GIẢM -37.4% sai số toàn phương</a:t>
                      </a:r>
                    </a:p>
                  </a:txBody>
                  <a:tcPr>
                    <a:solidFill>
                      <a:srgbClr val="F8FAFC"/>
                    </a:solidFill>
                  </a:tcPr>
                </a:tc>
              </a:tr>
              <a:tr h="653142">
                <a:tc>
                  <a:txBody>
                    <a:bodyPr/>
                    <a:lstStyle/>
                    <a:p>
                      <a:pPr>
                        <a:defRPr sz="1100">
                          <a:solidFill>
                            <a:srgbClr val="0F172A"/>
                          </a:solidFill>
                          <a:latin typeface="Arial"/>
                        </a:defRPr>
                      </a:pPr>
                      <a:r>
                        <a:t>Sai số tuyệt đối trung bình MAE trên thang logarit</a:t>
                      </a:r>
                    </a:p>
                  </a:txBody>
                  <a:tcPr>
                    <a:solidFill>
                      <a:srgbClr val="FFFFFF"/>
                    </a:solidFill>
                  </a:tcPr>
                </a:tc>
                <a:tc>
                  <a:txBody>
                    <a:bodyPr/>
                    <a:lstStyle/>
                    <a:p>
                      <a:pPr algn="r">
                        <a:defRPr sz="1100">
                          <a:solidFill>
                            <a:srgbClr val="0F172A"/>
                          </a:solidFill>
                          <a:latin typeface="Arial"/>
                        </a:defRPr>
                      </a:pPr>
                      <a:r>
                        <a:t>0.4918</a:t>
                      </a:r>
                    </a:p>
                  </a:txBody>
                  <a:tcPr>
                    <a:solidFill>
                      <a:srgbClr val="FFFFFF"/>
                    </a:solidFill>
                  </a:tcPr>
                </a:tc>
                <a:tc>
                  <a:txBody>
                    <a:bodyPr/>
                    <a:lstStyle/>
                    <a:p>
                      <a:pPr algn="r">
                        <a:defRPr sz="1100">
                          <a:solidFill>
                            <a:srgbClr val="0F172A"/>
                          </a:solidFill>
                          <a:latin typeface="Arial"/>
                        </a:defRPr>
                      </a:pPr>
                      <a:r>
                        <a:t>0.2907</a:t>
                      </a:r>
                    </a:p>
                  </a:txBody>
                  <a:tcPr>
                    <a:solidFill>
                      <a:srgbClr val="FFFFFF"/>
                    </a:solidFill>
                  </a:tcPr>
                </a:tc>
                <a:tc>
                  <a:txBody>
                    <a:bodyPr/>
                    <a:lstStyle/>
                    <a:p>
                      <a:pPr>
                        <a:defRPr sz="1100" b="1">
                          <a:solidFill>
                            <a:srgbClr val="1E40AF"/>
                          </a:solidFill>
                          <a:latin typeface="Arial"/>
                        </a:defRPr>
                      </a:pPr>
                      <a:r>
                        <a:t>GIẢM -40.9% sai số tuyệt đối</a:t>
                      </a:r>
                    </a:p>
                  </a:txBody>
                  <a:tcPr>
                    <a:solidFill>
                      <a:srgbClr val="FFFFFF"/>
                    </a:solidFill>
                  </a:tcPr>
                </a:tc>
              </a:tr>
              <a:tr h="653142">
                <a:tc>
                  <a:txBody>
                    <a:bodyPr/>
                    <a:lstStyle/>
                    <a:p>
                      <a:pPr>
                        <a:defRPr sz="1100">
                          <a:solidFill>
                            <a:srgbClr val="0F172A"/>
                          </a:solidFill>
                          <a:latin typeface="Arial"/>
                        </a:defRPr>
                      </a:pPr>
                      <a:r>
                        <a:t>MAE trên thang tiền tệ thực tế</a:t>
                      </a:r>
                    </a:p>
                  </a:txBody>
                  <a:tcPr>
                    <a:solidFill>
                      <a:srgbClr val="F8FAFC"/>
                    </a:solidFill>
                  </a:tcPr>
                </a:tc>
                <a:tc>
                  <a:txBody>
                    <a:bodyPr/>
                    <a:lstStyle/>
                    <a:p>
                      <a:pPr algn="r">
                        <a:defRPr sz="1100">
                          <a:solidFill>
                            <a:srgbClr val="0F172A"/>
                          </a:solidFill>
                          <a:latin typeface="Arial"/>
                        </a:defRPr>
                      </a:pPr>
                      <a:r>
                        <a:t>10.18 Tỷ VNĐ</a:t>
                      </a:r>
                    </a:p>
                  </a:txBody>
                  <a:tcPr>
                    <a:solidFill>
                      <a:srgbClr val="F8FAFC"/>
                    </a:solidFill>
                  </a:tcPr>
                </a:tc>
                <a:tc>
                  <a:txBody>
                    <a:bodyPr/>
                    <a:lstStyle/>
                    <a:p>
                      <a:pPr algn="r">
                        <a:defRPr sz="1100">
                          <a:solidFill>
                            <a:srgbClr val="0F172A"/>
                          </a:solidFill>
                          <a:latin typeface="Arial"/>
                        </a:defRPr>
                      </a:pPr>
                      <a:r>
                        <a:t>4.64 Tỷ VNĐ</a:t>
                      </a:r>
                    </a:p>
                  </a:txBody>
                  <a:tcPr>
                    <a:solidFill>
                      <a:srgbClr val="F8FAFC"/>
                    </a:solidFill>
                  </a:tcPr>
                </a:tc>
                <a:tc>
                  <a:txBody>
                    <a:bodyPr/>
                    <a:lstStyle/>
                    <a:p>
                      <a:pPr>
                        <a:defRPr sz="1100" b="1">
                          <a:solidFill>
                            <a:srgbClr val="1E40AF"/>
                          </a:solidFill>
                          <a:latin typeface="Arial"/>
                        </a:defRPr>
                      </a:pPr>
                      <a:r>
                        <a:t>GIẢM -54.4% (Sai số giảm hơn một nửa!)</a:t>
                      </a:r>
                    </a:p>
                  </a:txBody>
                  <a:tcPr>
                    <a:solidFill>
                      <a:srgbClr val="F8FAFC"/>
                    </a:solidFill>
                  </a:tcPr>
                </a:tc>
              </a:tr>
              <a:tr h="653142">
                <a:tc>
                  <a:txBody>
                    <a:bodyPr/>
                    <a:lstStyle/>
                    <a:p>
                      <a:pPr>
                        <a:defRPr sz="1100">
                          <a:solidFill>
                            <a:srgbClr val="0F172A"/>
                          </a:solidFill>
                          <a:latin typeface="Arial"/>
                        </a:defRPr>
                      </a:pPr>
                      <a:r>
                        <a:t>Sai số tuyệt đối trung vị MedAE</a:t>
                      </a:r>
                    </a:p>
                  </a:txBody>
                  <a:tcPr>
                    <a:solidFill>
                      <a:srgbClr val="FFFFFF"/>
                    </a:solidFill>
                  </a:tcPr>
                </a:tc>
                <a:tc>
                  <a:txBody>
                    <a:bodyPr/>
                    <a:lstStyle/>
                    <a:p>
                      <a:pPr algn="r">
                        <a:defRPr sz="1100">
                          <a:solidFill>
                            <a:srgbClr val="0F172A"/>
                          </a:solidFill>
                          <a:latin typeface="Arial"/>
                        </a:defRPr>
                      </a:pPr>
                      <a:r>
                        <a:t>2.62 Tỷ VNĐ</a:t>
                      </a:r>
                    </a:p>
                  </a:txBody>
                  <a:tcPr>
                    <a:solidFill>
                      <a:srgbClr val="FFFFFF"/>
                    </a:solidFill>
                  </a:tcPr>
                </a:tc>
                <a:tc>
                  <a:txBody>
                    <a:bodyPr/>
                    <a:lstStyle/>
                    <a:p>
                      <a:pPr algn="r">
                        <a:defRPr sz="1100">
                          <a:solidFill>
                            <a:srgbClr val="0F172A"/>
                          </a:solidFill>
                          <a:latin typeface="Arial"/>
                        </a:defRPr>
                      </a:pPr>
                      <a:r>
                        <a:t>1.36 Tỷ VNĐ</a:t>
                      </a:r>
                    </a:p>
                  </a:txBody>
                  <a:tcPr>
                    <a:solidFill>
                      <a:srgbClr val="FFFFFF"/>
                    </a:solidFill>
                  </a:tcPr>
                </a:tc>
                <a:tc>
                  <a:txBody>
                    <a:bodyPr/>
                    <a:lstStyle/>
                    <a:p>
                      <a:pPr>
                        <a:defRPr sz="1100" b="1">
                          <a:solidFill>
                            <a:srgbClr val="1E40AF"/>
                          </a:solidFill>
                          <a:latin typeface="Arial"/>
                        </a:defRPr>
                      </a:pPr>
                      <a:r>
                        <a:t>GIẢM -48.2% (50% nhà lệch dưới 1.36 tỷ)</a:t>
                      </a:r>
                    </a:p>
                  </a:txBody>
                  <a:tcPr>
                    <a:solidFill>
                      <a:srgbClr val="FFFFFF"/>
                    </a:solidFill>
                  </a:tcPr>
                </a:tc>
              </a:tr>
              <a:tr h="653148">
                <a:tc>
                  <a:txBody>
                    <a:bodyPr/>
                    <a:lstStyle/>
                    <a:p>
                      <a:pPr>
                        <a:defRPr sz="1100">
                          <a:solidFill>
                            <a:srgbClr val="0F172A"/>
                          </a:solidFill>
                          <a:latin typeface="Arial"/>
                        </a:defRPr>
                      </a:pPr>
                      <a:r>
                        <a:t>Sai số phần trăm tuyệt đối trung vị MdAPE</a:t>
                      </a:r>
                    </a:p>
                  </a:txBody>
                  <a:tcPr>
                    <a:solidFill>
                      <a:srgbClr val="F8FAFC"/>
                    </a:solidFill>
                  </a:tcPr>
                </a:tc>
                <a:tc>
                  <a:txBody>
                    <a:bodyPr/>
                    <a:lstStyle/>
                    <a:p>
                      <a:pPr algn="r">
                        <a:defRPr sz="1100">
                          <a:solidFill>
                            <a:srgbClr val="0F172A"/>
                          </a:solidFill>
                          <a:latin typeface="Arial"/>
                        </a:defRPr>
                      </a:pPr>
                      <a:r>
                        <a:t>37.28%</a:t>
                      </a:r>
                    </a:p>
                  </a:txBody>
                  <a:tcPr>
                    <a:solidFill>
                      <a:srgbClr val="F8FAFC"/>
                    </a:solidFill>
                  </a:tcPr>
                </a:tc>
                <a:tc>
                  <a:txBody>
                    <a:bodyPr/>
                    <a:lstStyle/>
                    <a:p>
                      <a:pPr algn="r">
                        <a:defRPr sz="1100">
                          <a:solidFill>
                            <a:srgbClr val="0F172A"/>
                          </a:solidFill>
                          <a:latin typeface="Arial"/>
                        </a:defRPr>
                      </a:pPr>
                      <a:r>
                        <a:t>20.47%</a:t>
                      </a:r>
                    </a:p>
                  </a:txBody>
                  <a:tcPr>
                    <a:solidFill>
                      <a:srgbClr val="F8FAFC"/>
                    </a:solidFill>
                  </a:tcPr>
                </a:tc>
                <a:tc>
                  <a:txBody>
                    <a:bodyPr/>
                    <a:lstStyle/>
                    <a:p>
                      <a:pPr>
                        <a:defRPr sz="1100" b="1">
                          <a:solidFill>
                            <a:srgbClr val="1E40AF"/>
                          </a:solidFill>
                          <a:latin typeface="Arial"/>
                        </a:defRPr>
                      </a:pPr>
                      <a:r>
                        <a:t>CẢI THIỆN -45.1% (Sai số thực tế chỉ ~20%)</a:t>
                      </a:r>
                    </a:p>
                  </a:txBody>
                  <a:tcP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10. Tầm Quan Trọng Đặc Trưng &amp; Chẩn Đoán Sai Số Mô Hình</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11 / 16</a:t>
            </a:r>
          </a:p>
        </p:txBody>
      </p:sp>
      <p:pic>
        <p:nvPicPr>
          <p:cNvPr id="4" name="Picture 3" descr="05_feature_importance.png"/>
          <p:cNvPicPr>
            <a:picLocks noChangeAspect="1"/>
          </p:cNvPicPr>
          <p:nvPr/>
        </p:nvPicPr>
        <p:blipFill>
          <a:blip r:embed="rId2"/>
          <a:stretch>
            <a:fillRect/>
          </a:stretch>
        </p:blipFill>
        <p:spPr>
          <a:xfrm>
            <a:off x="731520" y="1371600"/>
            <a:ext cx="5120640" cy="4754880"/>
          </a:xfrm>
          <a:prstGeom prst="rect">
            <a:avLst/>
          </a:prstGeom>
        </p:spPr>
      </p:pic>
      <p:pic>
        <p:nvPicPr>
          <p:cNvPr id="5" name="Picture 4" descr="06_residual_analysis.png"/>
          <p:cNvPicPr>
            <a:picLocks noChangeAspect="1"/>
          </p:cNvPicPr>
          <p:nvPr/>
        </p:nvPicPr>
        <p:blipFill>
          <a:blip r:embed="rId3"/>
          <a:stretch>
            <a:fillRect/>
          </a:stretch>
        </p:blipFill>
        <p:spPr>
          <a:xfrm>
            <a:off x="6217920" y="1371600"/>
            <a:ext cx="5212080" cy="47548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11. Hiệu Năng Tính Toán Song Song &amp; Tối Ưu Hóa Lưu Trữ</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12 / 16</a:t>
            </a:r>
          </a:p>
        </p:txBody>
      </p:sp>
      <p:pic>
        <p:nvPicPr>
          <p:cNvPr id="4" name="Picture 3" descr="07_pipeline_performance_storage.png"/>
          <p:cNvPicPr>
            <a:picLocks noChangeAspect="1"/>
          </p:cNvPicPr>
          <p:nvPr/>
        </p:nvPicPr>
        <p:blipFill>
          <a:blip r:embed="rId2"/>
          <a:stretch>
            <a:fillRect/>
          </a:stretch>
        </p:blipFill>
        <p:spPr>
          <a:xfrm>
            <a:off x="731520" y="1371600"/>
            <a:ext cx="6217920" cy="4754880"/>
          </a:xfrm>
          <a:prstGeom prst="rect">
            <a:avLst/>
          </a:prstGeom>
        </p:spPr>
      </p:pic>
      <p:sp>
        <p:nvSpPr>
          <p:cNvPr id="5" name="Rounded Rectangle 4"/>
          <p:cNvSpPr/>
          <p:nvPr/>
        </p:nvSpPr>
        <p:spPr>
          <a:xfrm>
            <a:off x="7132320" y="1371600"/>
            <a:ext cx="42976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F2942"/>
                </a:solidFill>
                <a:latin typeface="Arial"/>
              </a:defRPr>
            </a:pPr>
            <a:r>
              <a:t>THÔNG SỐ HIỆU NĂNG &amp; DUNG LƯỢNG:</a:t>
            </a:r>
          </a:p>
          <a:p>
            <a:pPr>
              <a:spcAft>
                <a:spcPts val="600"/>
              </a:spcAft>
            </a:pPr>
            <a:r>
              <a:rPr sz="1100" b="1">
                <a:solidFill>
                  <a:srgbClr val="0F2942"/>
                </a:solidFill>
                <a:latin typeface="Arial"/>
              </a:rPr>
              <a:t>• Tổng thời gian pipeline: </a:t>
            </a:r>
            <a:r>
              <a:rPr sz="1100" b="0">
                <a:solidFill>
                  <a:srgbClr val="0F172A"/>
                </a:solidFill>
                <a:latin typeface="Arial"/>
              </a:rPr>
              <a:t>451.4 giây (~7.52 phút) cho 350,075 dòng thô.</a:t>
            </a:r>
          </a:p>
          <a:p>
            <a:pPr>
              <a:spcAft>
                <a:spcPts val="600"/>
              </a:spcAft>
            </a:pPr>
            <a:r>
              <a:rPr sz="1100" b="1">
                <a:solidFill>
                  <a:srgbClr val="0F2942"/>
                </a:solidFill>
                <a:latin typeface="Arial"/>
              </a:rPr>
              <a:t>• Thông lượng xử lý PySpark: </a:t>
            </a:r>
            <a:r>
              <a:rPr sz="1100" b="0">
                <a:solidFill>
                  <a:srgbClr val="0F172A"/>
                </a:solidFill>
                <a:latin typeface="Arial"/>
              </a:rPr>
              <a:t>Ingestion: 10,002 dòng/s | Silver: 6,956 dòng/s | Gold: 4,010 dòng/s | Loading: 1,038 dòng/s.</a:t>
            </a:r>
          </a:p>
          <a:p>
            <a:pPr>
              <a:spcAft>
                <a:spcPts val="600"/>
              </a:spcAft>
            </a:pPr>
            <a:r>
              <a:rPr sz="1100" b="1">
                <a:solidFill>
                  <a:srgbClr val="0F2942"/>
                </a:solidFill>
                <a:latin typeface="Arial"/>
              </a:rPr>
              <a:t>• Nén Parquet Snappy: </a:t>
            </a:r>
            <a:r>
              <a:rPr sz="1100" b="0">
                <a:solidFill>
                  <a:srgbClr val="0F172A"/>
                </a:solidFill>
                <a:latin typeface="Arial"/>
              </a:rPr>
              <a:t>Giảm từ 217 MB tệp thô chưa nén xuống 153.9 MB Tầng Đồng và 128.2 MB Tầng Vàng - Tiết kiệm 29.1% dung lượng.</a:t>
            </a:r>
          </a:p>
          <a:p>
            <a:pPr>
              <a:spcAft>
                <a:spcPts val="600"/>
              </a:spcAft>
            </a:pPr>
            <a:r>
              <a:rPr sz="1100" b="1">
                <a:solidFill>
                  <a:srgbClr val="0F2942"/>
                </a:solidFill>
                <a:latin typeface="Arial"/>
              </a:rPr>
              <a:t>• CSDL Phục Vụ SQLite: </a:t>
            </a:r>
            <a:r>
              <a:rPr sz="1100" b="0">
                <a:solidFill>
                  <a:srgbClr val="0F172A"/>
                </a:solidFill>
                <a:latin typeface="Arial"/>
              </a:rPr>
              <a:t>Tối ưu hóa chỉ còn 17.4 MB, tích hợp 4 chỉ mục B-Tree, tốc độ truy vấn phục vụ Web dưới 50ms.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12. Tự Động Hóa Kiểm Thử &amp; Hướng Dẫn Vận Hành Dễ Dàng</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13 / 16</a:t>
            </a:r>
          </a:p>
        </p:txBody>
      </p:sp>
      <p:sp>
        <p:nvSpPr>
          <p:cNvPr id="4" name="Rounded Rectangle 3"/>
          <p:cNvSpPr/>
          <p:nvPr/>
        </p:nvSpPr>
        <p:spPr>
          <a:xfrm>
            <a:off x="731520" y="1371600"/>
            <a:ext cx="512064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200" b="1">
                <a:solidFill>
                  <a:srgbClr val="16A34A"/>
                </a:solidFill>
                <a:latin typeface="Arial"/>
              </a:defRPr>
            </a:pPr>
            <a:r>
              <a:t>BỘ KIỂM THỬ TỰ ĐỘNG (10/10 BÀI KIỂM THỬ ĐẠT YÊU CẦU):</a:t>
            </a:r>
          </a:p>
          <a:p>
            <a:pPr>
              <a:spcAft>
                <a:spcPts val="400"/>
              </a:spcAft>
              <a:defRPr sz="1000">
                <a:solidFill>
                  <a:srgbClr val="0F172A"/>
                </a:solidFill>
                <a:latin typeface="Arial"/>
              </a:defRPr>
            </a:pPr>
            <a:r>
              <a:t>✔ 1. test_directories_exist (Kiểm tra cấu trúc thư mục chuẩn)</a:t>
            </a:r>
          </a:p>
          <a:p>
            <a:pPr>
              <a:spcAft>
                <a:spcPts val="400"/>
              </a:spcAft>
              <a:defRPr sz="1000">
                <a:solidFill>
                  <a:srgbClr val="0F172A"/>
                </a:solidFill>
                <a:latin typeface="Arial"/>
              </a:defRPr>
            </a:pPr>
            <a:r>
              <a:t>✔ 2. test_bronze_parquet (350,075 dòng, 3 cột kiểm toán)</a:t>
            </a:r>
          </a:p>
          <a:p>
            <a:pPr>
              <a:spcAft>
                <a:spcPts val="400"/>
              </a:spcAft>
              <a:defRPr sz="1000">
                <a:solidFill>
                  <a:srgbClr val="0F172A"/>
                </a:solidFill>
                <a:latin typeface="Arial"/>
              </a:defRPr>
            </a:pPr>
            <a:r>
              <a:t>✔ 3. test_silver_parquet (307,457 dòng, sạch null và âm)</a:t>
            </a:r>
          </a:p>
          <a:p>
            <a:pPr>
              <a:spcAft>
                <a:spcPts val="400"/>
              </a:spcAft>
              <a:defRPr sz="1000">
                <a:solidFill>
                  <a:srgbClr val="0F172A"/>
                </a:solidFill>
                <a:latin typeface="Arial"/>
              </a:defRPr>
            </a:pPr>
            <a:r>
              <a:t>✔ 4. test_gold_parquet (300,295 dòng, cờ đặc trưng và log)</a:t>
            </a:r>
          </a:p>
          <a:p>
            <a:pPr>
              <a:spcAft>
                <a:spcPts val="400"/>
              </a:spcAft>
              <a:defRPr sz="1000">
                <a:solidFill>
                  <a:srgbClr val="0F172A"/>
                </a:solidFill>
                <a:latin typeface="Arial"/>
              </a:defRPr>
            </a:pPr>
            <a:r>
              <a:t>✔ 5. test_data_quality_report (Kiểm toán báo cáo chất lượng)</a:t>
            </a:r>
          </a:p>
          <a:p>
            <a:pPr>
              <a:spcAft>
                <a:spcPts val="400"/>
              </a:spcAft>
              <a:defRPr sz="1000">
                <a:solidFill>
                  <a:srgbClr val="0F172A"/>
                </a:solidFill>
                <a:latin typeface="Arial"/>
              </a:defRPr>
            </a:pPr>
            <a:r>
              <a:t>✔ 6. test_storage_database (Khớp 100%, 4 chỉ mục B-Tree)</a:t>
            </a:r>
          </a:p>
          <a:p>
            <a:pPr>
              <a:spcAft>
                <a:spcPts val="400"/>
              </a:spcAft>
              <a:defRPr sz="1000">
                <a:solidFill>
                  <a:srgbClr val="0F172A"/>
                </a:solidFill>
                <a:latin typeface="Arial"/>
              </a:defRPr>
            </a:pPr>
            <a:r>
              <a:t>✔ 7. test_three_way_split_protocol (Tỷ lệ 70/15/15, R² &gt;= 0.80)</a:t>
            </a:r>
          </a:p>
          <a:p>
            <a:pPr>
              <a:spcAft>
                <a:spcPts val="400"/>
              </a:spcAft>
              <a:defRPr sz="1000">
                <a:solidFill>
                  <a:srgbClr val="0F172A"/>
                </a:solidFill>
                <a:latin typeface="Arial"/>
              </a:defRPr>
            </a:pPr>
            <a:r>
              <a:t>✔ 8. test_train_serving_consistency (Đồng nhất quy trình)</a:t>
            </a:r>
          </a:p>
          <a:p>
            <a:pPr>
              <a:spcAft>
                <a:spcPts val="400"/>
              </a:spcAft>
              <a:defRPr sz="1000">
                <a:solidFill>
                  <a:srgbClr val="0F172A"/>
                </a:solidFill>
                <a:latin typeface="Arial"/>
              </a:defRPr>
            </a:pPr>
            <a:r>
              <a:t>✔ 9. test_evaluation_diagnostics (Biểu đồ chẩn đoán mô hình)</a:t>
            </a:r>
          </a:p>
          <a:p>
            <a:pPr>
              <a:spcAft>
                <a:spcPts val="400"/>
              </a:spcAft>
              <a:defRPr sz="1000">
                <a:solidFill>
                  <a:srgbClr val="0F172A"/>
                </a:solidFill>
                <a:latin typeface="Arial"/>
              </a:defRPr>
            </a:pPr>
            <a:r>
              <a:t>✔ 10. test_pipeline_summary_metrics (7 mục số liệu và 7 biểu đồ)</a:t>
            </a:r>
          </a:p>
        </p:txBody>
      </p:sp>
      <p:sp>
        <p:nvSpPr>
          <p:cNvPr id="5" name="Rounded Rectangle 4"/>
          <p:cNvSpPr/>
          <p:nvPr/>
        </p:nvSpPr>
        <p:spPr>
          <a:xfrm>
            <a:off x="6217920" y="1371600"/>
            <a:ext cx="52120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250" b="1">
                <a:solidFill>
                  <a:srgbClr val="0F2942"/>
                </a:solidFill>
                <a:latin typeface="Arial"/>
              </a:defRPr>
            </a:pPr>
            <a:r>
              <a:t>CÁC BƯỚC VẬN HÀNH DỰ ÁN DỄ DÀNG:</a:t>
            </a:r>
          </a:p>
          <a:p>
            <a:pPr>
              <a:spcAft>
                <a:spcPts val="600"/>
              </a:spcAft>
            </a:pPr>
            <a:r>
              <a:rPr sz="1100" b="1">
                <a:solidFill>
                  <a:srgbClr val="0F2942"/>
                </a:solidFill>
                <a:latin typeface="Arial"/>
              </a:rPr>
              <a:t>• Menu tương tác trung tâm (run.bat): </a:t>
            </a:r>
            <a:r>
              <a:rPr sz="1100" b="0">
                <a:solidFill>
                  <a:srgbClr val="0F172A"/>
                </a:solidFill>
                <a:latin typeface="Arial"/>
              </a:rPr>
              <a:t>Nhấp đúp run.bat trên Windows, chọn phím số từ [1] đến [9] để chạy ứng dụng hoặc pipeline.</a:t>
            </a:r>
          </a:p>
          <a:p>
            <a:pPr>
              <a:spcAft>
                <a:spcPts val="600"/>
              </a:spcAft>
            </a:pPr>
            <a:r>
              <a:rPr sz="1100" b="1">
                <a:solidFill>
                  <a:srgbClr val="0F2942"/>
                </a:solidFill>
                <a:latin typeface="Arial"/>
              </a:rPr>
              <a:t>• Chạy toàn bộ pipeline (chay_pipeline.bat): </a:t>
            </a:r>
            <a:r>
              <a:rPr sz="1100" b="0">
                <a:solidFill>
                  <a:srgbClr val="0F172A"/>
                </a:solidFill>
                <a:latin typeface="Arial"/>
              </a:rPr>
              <a:t>python run_pipeline.py all (hoặc make all): Tự động nạp, ETL, nạp DB và huấn luyện mô hình.</a:t>
            </a:r>
          </a:p>
          <a:p>
            <a:pPr>
              <a:spcAft>
                <a:spcPts val="600"/>
              </a:spcAft>
            </a:pPr>
            <a:r>
              <a:rPr sz="1100" b="1">
                <a:solidFill>
                  <a:srgbClr val="0F2942"/>
                </a:solidFill>
                <a:latin typeface="Arial"/>
              </a:rPr>
              <a:t>• Khởi chạy Web Streamlit (chay_app.bat): </a:t>
            </a:r>
            <a:r>
              <a:rPr sz="1100" b="0">
                <a:solidFill>
                  <a:srgbClr val="0F172A"/>
                </a:solidFill>
                <a:latin typeface="Arial"/>
              </a:rPr>
              <a:t>streamlit run src/serving/app.py: Mở ngay giao diện trực quan tại http://localhost:8501.</a:t>
            </a:r>
          </a:p>
          <a:p>
            <a:pPr>
              <a:spcAft>
                <a:spcPts val="600"/>
              </a:spcAft>
            </a:pPr>
            <a:r>
              <a:rPr sz="1100" b="1">
                <a:solidFill>
                  <a:srgbClr val="0F2942"/>
                </a:solidFill>
                <a:latin typeface="Arial"/>
              </a:rPr>
              <a:t>• Chạy bộ kiểm thử tự động: </a:t>
            </a:r>
            <a:r>
              <a:rPr sz="1100" b="0">
                <a:solidFill>
                  <a:srgbClr val="0F172A"/>
                </a:solidFill>
                <a:latin typeface="Arial"/>
              </a:rPr>
              <a:t>pytest tests/test_pipelines.py -v (10/10 ca kiểm thử pass trong 4.73 giây).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13. Giao Diện Ứng Dụng Web Streamlit 4 Phân Hệ</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14 / 16</a:t>
            </a:r>
          </a:p>
        </p:txBody>
      </p:sp>
      <p:sp>
        <p:nvSpPr>
          <p:cNvPr id="4" name="Rounded Rectangle 3"/>
          <p:cNvSpPr/>
          <p:nvPr/>
        </p:nvSpPr>
        <p:spPr>
          <a:xfrm>
            <a:off x="731520" y="1371600"/>
            <a:ext cx="521208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F2942"/>
                </a:solidFill>
                <a:latin typeface="Arial"/>
              </a:defRPr>
            </a:pPr>
            <a:r>
              <a:t>TAB 1: KIẾN TRÚC HỒ DỮ LIỆU</a:t>
            </a:r>
          </a:p>
          <a:p>
            <a:pPr>
              <a:defRPr sz="1150">
                <a:solidFill>
                  <a:srgbClr val="0F172A"/>
                </a:solidFill>
                <a:latin typeface="Arial"/>
              </a:defRPr>
            </a:pPr>
            <a:r>
              <a:t>Trực quan hóa sơ đồ 6 tầng, quy mô 3.5 triệu dòng trên 10 phân mảnh, lưu lượng và các thuộc tính qua từng tầng.</a:t>
            </a:r>
          </a:p>
        </p:txBody>
      </p:sp>
      <p:sp>
        <p:nvSpPr>
          <p:cNvPr id="5" name="Rounded Rectangle 4"/>
          <p:cNvSpPr/>
          <p:nvPr/>
        </p:nvSpPr>
        <p:spPr>
          <a:xfrm>
            <a:off x="6217920" y="1371600"/>
            <a:ext cx="521208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F2942"/>
                </a:solidFill>
                <a:latin typeface="Arial"/>
              </a:defRPr>
            </a:pPr>
            <a:r>
              <a:t>TAB 2: CHẤT LƯỢNG &amp; BIẾN ĐỔI</a:t>
            </a:r>
          </a:p>
          <a:p>
            <a:pPr>
              <a:defRPr sz="1150">
                <a:solidFill>
                  <a:srgbClr val="0F172A"/>
                </a:solidFill>
                <a:latin typeface="Arial"/>
              </a:defRPr>
            </a:pPr>
            <a:r>
              <a:t>Biểu đồ phễu lưu lượng 2 panel, tỷ lệ khuyết thiếu phân 3 nhóm màu, bảng 5 số thống kê TRƯỚC và SAU khi lọc ngoại lệ.</a:t>
            </a:r>
          </a:p>
        </p:txBody>
      </p:sp>
      <p:sp>
        <p:nvSpPr>
          <p:cNvPr id="6" name="Rounded Rectangle 5"/>
          <p:cNvSpPr/>
          <p:nvPr/>
        </p:nvSpPr>
        <p:spPr>
          <a:xfrm>
            <a:off x="731520" y="3749039"/>
            <a:ext cx="521208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F2942"/>
                </a:solidFill>
                <a:latin typeface="Arial"/>
              </a:defRPr>
            </a:pPr>
            <a:r>
              <a:t>TAB 3: PHÂN TÍCH THỊ TRƯỜNG</a:t>
            </a:r>
          </a:p>
          <a:p>
            <a:pPr>
              <a:defRPr sz="1150">
                <a:solidFill>
                  <a:srgbClr val="0F172A"/>
                </a:solidFill>
                <a:latin typeface="Arial"/>
              </a:defRPr>
            </a:pPr>
            <a:r>
              <a:t>Bản đồ giá trung vị theo tỉnh thành, phân tích loại hình bất động sản, đơn giá theo phòng ngủ và ma trận tương quan.</a:t>
            </a:r>
          </a:p>
        </p:txBody>
      </p:sp>
      <p:sp>
        <p:nvSpPr>
          <p:cNvPr id="7" name="Rounded Rectangle 6"/>
          <p:cNvSpPr/>
          <p:nvPr/>
        </p:nvSpPr>
        <p:spPr>
          <a:xfrm>
            <a:off x="6217920" y="3749039"/>
            <a:ext cx="5212080" cy="2103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F2942"/>
                </a:solidFill>
                <a:latin typeface="Arial"/>
              </a:defRPr>
            </a:pPr>
            <a:r>
              <a:t>TAB 4: HIỆU NĂNG &amp; ĐỊNH GIÁ</a:t>
            </a:r>
          </a:p>
          <a:p>
            <a:pPr>
              <a:defRPr sz="1150">
                <a:solidFill>
                  <a:srgbClr val="0F172A"/>
                </a:solidFill>
                <a:latin typeface="Arial"/>
              </a:defRPr>
            </a:pPr>
            <a:r>
              <a:t>Bảng điều khiển giám sát quy trình, hiệu quả nén Parquet Snappy, biểu mẫu định giá nhà tự động bằng LightGBM theo thời gian thực.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spcAft>
                <a:spcPts val="200"/>
              </a:spcAft>
              <a:defRPr sz="1000" b="1">
                <a:solidFill>
                  <a:srgbClr val="F58220"/>
                </a:solidFill>
                <a:latin typeface="Arial"/>
              </a:defRPr>
            </a:pPr>
            <a:r>
              <a:t>TÍCH HỢP &amp; PHÂN TÍCH DỮ LIỆU LỚN | TRƯỜNG ĐH PHENIKAA</a:t>
            </a:r>
          </a:p>
          <a:p>
            <a:pPr>
              <a:defRPr sz="2200" b="1">
                <a:solidFill>
                  <a:srgbClr val="0F2942"/>
                </a:solidFill>
                <a:latin typeface="Arial"/>
              </a:defRPr>
            </a:pPr>
            <a:r>
              <a:t>14. Kết Luận, Giới Hạn Khách Quan &amp; Hướng Phát Triển</a:t>
            </a:r>
          </a:p>
        </p:txBody>
      </p:sp>
      <p:sp>
        <p:nvSpPr>
          <p:cNvPr id="3" name="TextBox 2"/>
          <p:cNvSpPr txBox="1"/>
          <p:nvPr/>
        </p:nvSpPr>
        <p:spPr>
          <a:xfrm>
            <a:off x="731520" y="6400800"/>
            <a:ext cx="10698480" cy="320040"/>
          </a:xfrm>
          <a:prstGeom prst="rect">
            <a:avLst/>
          </a:prstGeom>
          <a:noFill/>
        </p:spPr>
        <p:txBody>
          <a:bodyPr wrap="none" lIns="0" tIns="0" rIns="0" bIns="0">
            <a:spAutoFit/>
          </a:bodyPr>
          <a:lstStyle/>
          <a:p>
            <a:pPr>
              <a:defRPr sz="900">
                <a:solidFill>
                  <a:srgbClr val="64748B"/>
                </a:solidFill>
                <a:latin typeface="Arial"/>
              </a:defRPr>
            </a:pPr>
            <a:r>
              <a:t>Sinh viên: Phạm Văn Minh - Mã sinh viên: 23010350 - Trường Đại học Phenikaa                                                     Slide 15 / 16</a:t>
            </a:r>
          </a:p>
        </p:txBody>
      </p:sp>
      <p:sp>
        <p:nvSpPr>
          <p:cNvPr id="4" name="Rounded Rectangle 3"/>
          <p:cNvSpPr/>
          <p:nvPr/>
        </p:nvSpPr>
        <p:spPr>
          <a:xfrm>
            <a:off x="731520" y="1371600"/>
            <a:ext cx="512064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16A34A"/>
                </a:solidFill>
                <a:latin typeface="Arial"/>
              </a:defRPr>
            </a:pPr>
            <a:r>
              <a:t>KẾT QUẢ ĐẠT ĐƯỢC:</a:t>
            </a:r>
          </a:p>
          <a:p>
            <a:pPr>
              <a:spcAft>
                <a:spcPts val="600"/>
              </a:spcAft>
            </a:pPr>
            <a:r>
              <a:rPr sz="1100" b="1">
                <a:solidFill>
                  <a:srgbClr val="0F2942"/>
                </a:solidFill>
                <a:latin typeface="Arial"/>
              </a:rPr>
              <a:t>• Hoàn thiện quy trình 6 tầng: </a:t>
            </a:r>
            <a:r>
              <a:rPr sz="1100" b="0">
                <a:solidFill>
                  <a:srgbClr val="0F172A"/>
                </a:solidFill>
                <a:latin typeface="Arial"/>
              </a:rPr>
              <a:t>Tuân thủ chuẩn mực Hồ dữ liệu Medallion, xử lý phân tán PySpark.</a:t>
            </a:r>
          </a:p>
          <a:p>
            <a:pPr>
              <a:spcAft>
                <a:spcPts val="600"/>
              </a:spcAft>
            </a:pPr>
            <a:r>
              <a:rPr sz="1100" b="1">
                <a:solidFill>
                  <a:srgbClr val="0F2942"/>
                </a:solidFill>
                <a:latin typeface="Arial"/>
              </a:rPr>
              <a:t>• Kiểm soát chất lượng khoa học: </a:t>
            </a:r>
            <a:r>
              <a:rPr sz="1100" b="0">
                <a:solidFill>
                  <a:srgbClr val="0F172A"/>
                </a:solidFill>
                <a:latin typeface="Arial"/>
              </a:rPr>
              <a:t>Khử 29.7k trùng lặp, lọc 7.1k ngoại lệ, giảm phương sai giá 77 lần mà bảo toàn trung vị.</a:t>
            </a:r>
          </a:p>
          <a:p>
            <a:pPr>
              <a:spcAft>
                <a:spcPts val="600"/>
              </a:spcAft>
            </a:pPr>
            <a:r>
              <a:rPr sz="1100" b="1">
                <a:solidFill>
                  <a:srgbClr val="0F2942"/>
                </a:solidFill>
                <a:latin typeface="Arial"/>
              </a:rPr>
              <a:t>• Mô hình LightGBM tối ưu: </a:t>
            </a:r>
            <a:r>
              <a:rPr sz="1100" b="0">
                <a:solidFill>
                  <a:srgbClr val="0F172A"/>
                </a:solidFill>
                <a:latin typeface="Arial"/>
              </a:rPr>
              <a:t>R² = 0.8537, MdAPE = 20.47%, vượt trội hoàn toàn so với mô hình cơ sở Ridge.</a:t>
            </a:r>
          </a:p>
          <a:p>
            <a:pPr>
              <a:spcAft>
                <a:spcPts val="600"/>
              </a:spcAft>
            </a:pPr>
            <a:r>
              <a:rPr sz="1100" b="1">
                <a:solidFill>
                  <a:srgbClr val="0F2942"/>
                </a:solidFill>
                <a:latin typeface="Arial"/>
              </a:rPr>
              <a:t>• Độ tin cậy &amp; tự động hóa cao: </a:t>
            </a:r>
            <a:r>
              <a:rPr sz="1100" b="0">
                <a:solidFill>
                  <a:srgbClr val="0F172A"/>
                </a:solidFill>
                <a:latin typeface="Arial"/>
              </a:rPr>
              <a:t>10/10 ca kiểm thử đạt yêu cầu, đóng gói kịch bản tự động trên Windows và ứng dụng Web Streamlit.</a:t>
            </a:r>
          </a:p>
        </p:txBody>
      </p:sp>
      <p:sp>
        <p:nvSpPr>
          <p:cNvPr id="5" name="Rounded Rectangle 4"/>
          <p:cNvSpPr/>
          <p:nvPr/>
        </p:nvSpPr>
        <p:spPr>
          <a:xfrm>
            <a:off x="6217920" y="1371600"/>
            <a:ext cx="5212080"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F58220"/>
                </a:solidFill>
                <a:latin typeface="Arial"/>
              </a:defRPr>
            </a:pPr>
            <a:r>
              <a:t>GIỚI HẠN KHÁCH QUAN &amp; HƯỚNG MỞ RỘNG:</a:t>
            </a:r>
          </a:p>
          <a:p>
            <a:pPr>
              <a:spcAft>
                <a:spcPts val="600"/>
              </a:spcAft>
            </a:pPr>
            <a:r>
              <a:rPr sz="1100" b="1">
                <a:solidFill>
                  <a:srgbClr val="0F2942"/>
                </a:solidFill>
                <a:latin typeface="Arial"/>
              </a:rPr>
              <a:t>• Giới hạn 1 - Phân mảnh thực nghiệm: </a:t>
            </a:r>
            <a:r>
              <a:rPr sz="1100" b="0">
                <a:solidFill>
                  <a:srgbClr val="0F172A"/>
                </a:solidFill>
                <a:latin typeface="Arial"/>
              </a:rPr>
              <a:t>Thực nghiệm trên 1 phân mảnh (350k dòng) do giới hạn máy trạm cá nhân; mở rộng 3.5 triệu dòng cần cụm máy chủ Spark phân tán.</a:t>
            </a:r>
          </a:p>
          <a:p>
            <a:pPr>
              <a:spcAft>
                <a:spcPts val="600"/>
              </a:spcAft>
            </a:pPr>
            <a:r>
              <a:rPr sz="1100" b="1">
                <a:solidFill>
                  <a:srgbClr val="0F2942"/>
                </a:solidFill>
                <a:latin typeface="Arial"/>
              </a:rPr>
              <a:t>• Giới hạn 2 - Bản chất giá rao bán: </a:t>
            </a:r>
            <a:r>
              <a:rPr sz="1100" b="0">
                <a:solidFill>
                  <a:srgbClr val="0F172A"/>
                </a:solidFill>
                <a:latin typeface="Arial"/>
              </a:rPr>
              <a:t>Giá rao bán phản ánh kỳ vọng người bán, thường cao hơn 5-15% so với giá giao dịch thực tế tại phòng công chứng.</a:t>
            </a:r>
          </a:p>
          <a:p>
            <a:pPr>
              <a:spcAft>
                <a:spcPts val="600"/>
              </a:spcAft>
            </a:pPr>
            <a:r>
              <a:rPr sz="1100" b="1">
                <a:solidFill>
                  <a:srgbClr val="0F2942"/>
                </a:solidFill>
                <a:latin typeface="Arial"/>
              </a:rPr>
              <a:t>• Giới hạn 3 - Tọa độ không gian: </a:t>
            </a:r>
            <a:r>
              <a:rPr sz="1100" b="0">
                <a:solidFill>
                  <a:srgbClr val="0F172A"/>
                </a:solidFill>
                <a:latin typeface="Arial"/>
              </a:rPr>
              <a:t>Dữ liệu thiếu tọa độ GPS chính xác từng số nhà để tính khoảng cách đến trường học/bệnh viện.</a:t>
            </a:r>
          </a:p>
          <a:p>
            <a:pPr>
              <a:spcAft>
                <a:spcPts val="600"/>
              </a:spcAft>
            </a:pPr>
            <a:r>
              <a:rPr sz="1100" b="1">
                <a:solidFill>
                  <a:srgbClr val="0F2942"/>
                </a:solidFill>
                <a:latin typeface="Arial"/>
              </a:rPr>
              <a:t>• Lộ trình tương lai: </a:t>
            </a:r>
            <a:r>
              <a:rPr sz="1100" b="0">
                <a:solidFill>
                  <a:srgbClr val="0F172A"/>
                </a:solidFill>
                <a:latin typeface="Arial"/>
              </a:rPr>
              <a:t>Mở rộng cụm phân tán Spark trên Cloud, tích hợp dịch vụ Geocoding API và mô hình đồ thị tri thức GNN.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spcAft>
                <a:spcPts val="2400"/>
              </a:spcAft>
              <a:defRPr sz="2800" b="1">
                <a:solidFill>
                  <a:srgbClr val="F58220"/>
                </a:solidFill>
                <a:latin typeface="Arial"/>
              </a:defRPr>
            </a:pPr>
            <a:r>
              <a:t>TRÂN TRỌNG CẢM ƠN QUÝ THẦY CÔ VÀ HỘI ĐỒNG!</a:t>
            </a:r>
          </a:p>
          <a:p>
            <a:pPr algn="ctr">
              <a:spcAft>
                <a:spcPts val="3600"/>
              </a:spcAft>
              <a:defRPr sz="1800" b="1">
                <a:solidFill>
                  <a:srgbClr val="FFFFFF"/>
                </a:solidFill>
                <a:latin typeface="Arial"/>
              </a:defRPr>
            </a:pPr>
            <a:r>
              <a:t>KÍNH MỜI QUÝ THẦY CÔ ĐẶT CÂU HỎI VÀ ĐÓNG GÓP Ý KIẾN</a:t>
            </a:r>
          </a:p>
          <a:p>
            <a:pPr algn="ctr">
              <a:spcAft>
                <a:spcPts val="600"/>
              </a:spcAft>
              <a:defRPr sz="1400" b="1">
                <a:solidFill>
                  <a:srgbClr val="FFFFFF"/>
                </a:solidFill>
                <a:latin typeface="Arial"/>
              </a:defRPr>
            </a:pPr>
            <a:r>
              <a:t>Sinh viên thực hiện: Phạm Văn Minh  —  Mã sinh viên: 23010350</a:t>
            </a:r>
          </a:p>
          <a:p>
            <a:pPr algn="ctr">
              <a:defRPr sz="1300">
                <a:solidFill>
                  <a:srgbClr val="64748B"/>
                </a:solidFill>
                <a:latin typeface="Arial"/>
              </a:defRPr>
            </a:pPr>
            <a:r>
              <a:t>Email: 23010350@st.phenikaa-uni.edu.vn  —  Trường Công nghệ Thông tin, Đại học Phenikaa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